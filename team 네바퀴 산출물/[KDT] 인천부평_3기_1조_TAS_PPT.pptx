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1" r:id="rId17"/>
    <p:sldId id="272" r:id="rId18"/>
  </p:sldIdLst>
  <p:sldSz cx="9144000" cy="5143500" type="screen16x9"/>
  <p:notesSz cx="51435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보경 전" userId="e12b182d328bbbf8" providerId="LiveId" clId="{F6067985-EFA2-4918-AB7C-A0CE70B49D7B}"/>
    <pc:docChg chg="undo custSel modSld">
      <pc:chgData name="보경 전" userId="e12b182d328bbbf8" providerId="LiveId" clId="{F6067985-EFA2-4918-AB7C-A0CE70B49D7B}" dt="2026-06-02T04:34:56.214" v="5" actId="14100"/>
      <pc:docMkLst>
        <pc:docMk/>
      </pc:docMkLst>
      <pc:sldChg chg="modSp mod">
        <pc:chgData name="보경 전" userId="e12b182d328bbbf8" providerId="LiveId" clId="{F6067985-EFA2-4918-AB7C-A0CE70B49D7B}" dt="2026-06-02T04:34:56.214" v="5" actId="14100"/>
        <pc:sldMkLst>
          <pc:docMk/>
          <pc:sldMk cId="0" sldId="265"/>
        </pc:sldMkLst>
        <pc:spChg chg="mod">
          <ac:chgData name="보경 전" userId="e12b182d328bbbf8" providerId="LiveId" clId="{F6067985-EFA2-4918-AB7C-A0CE70B49D7B}" dt="2026-06-02T04:34:37.433" v="4" actId="1076"/>
          <ac:spMkLst>
            <pc:docMk/>
            <pc:sldMk cId="0" sldId="265"/>
            <ac:spMk id="325" creationId="{00000000-0000-0000-0000-000000000000}"/>
          </ac:spMkLst>
        </pc:spChg>
        <pc:spChg chg="mod">
          <ac:chgData name="보경 전" userId="e12b182d328bbbf8" providerId="LiveId" clId="{F6067985-EFA2-4918-AB7C-A0CE70B49D7B}" dt="2026-06-02T04:34:56.214" v="5" actId="14100"/>
          <ac:spMkLst>
            <pc:docMk/>
            <pc:sldMk cId="0" sldId="265"/>
            <ac:spMk id="3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3FF3420-99AA-4E35-9C4A-584B3B12095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79AD8A4C-AF62-484A-8B64-B008FEF78D4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B20E61AC-8398-4907-837D-AFA6B5FBA49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A92CEF68-53D2-47D7-8D0F-73F108EF3F2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CC00711B-EA8E-43D8-88E4-2E294BC15F6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09A7C3F1-CF3C-4D47-913E-7A78918E7B2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974FF86F-FED9-4BD3-83BF-5EFB66A3C8B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DE706F4A-4DAA-4B79-A890-1389B07CDB0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C08BED08-AEFC-470F-B032-D1558CDD800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F9F842D7-27C3-49CF-AA30-38B9BE5CB2D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1C3F5A80-D385-4784-A2B0-DB7B535E8A8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A0BFDD54-8F84-4E3B-B418-BBE707B2845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685800">
              <a:lnSpc>
                <a:spcPct val="90000"/>
              </a:lnSpc>
              <a:buNone/>
            </a:pPr>
            <a:r>
              <a:rPr lang="ko-KR" sz="45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마스터 제목 스타일 편집</a:t>
            </a:r>
            <a:endParaRPr lang="en-US" sz="4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AF07C1-4F94-41E6-BA61-8F1B2ADE692A}" type="slidenum"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ko-KR" sz="33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마스터 제목 스타일 편집</a:t>
            </a:r>
            <a:endParaRPr lang="en-US" sz="33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</a:pPr>
            <a:r>
              <a:rPr lang="ko-KR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두 번째 수준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세 번째 수준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네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다섯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321F94-3553-4292-874C-ED85AB06459E}" type="slidenum"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543720" y="273960"/>
            <a:ext cx="1971360" cy="43585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ko-KR" sz="33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마스터 제목 스타일 편집</a:t>
            </a:r>
            <a:endParaRPr lang="en-US" sz="33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28560" y="273960"/>
            <a:ext cx="5800320" cy="43585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</a:pPr>
            <a:r>
              <a:rPr lang="ko-KR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두 번째 수준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세 번째 수준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네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다섯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F12393-6950-4E0B-8D15-6450666A3D09}" type="slidenum"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ko-KR" sz="33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마스터 제목 스타일 편집</a:t>
            </a:r>
            <a:endParaRPr lang="en-US" sz="33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</a:pPr>
            <a:r>
              <a:rPr lang="ko-KR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두 번째 수준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세 번째 수준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네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다섯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CFCE25-DB7F-4006-ABA6-C8EAC64E1D7B}" type="slidenum"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구역 머리글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23880" y="1282320"/>
            <a:ext cx="7886520" cy="2139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ko-KR" sz="45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마스터 제목 스타일 편집</a:t>
            </a:r>
            <a:endParaRPr lang="en-US" sz="4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23880" y="3441960"/>
            <a:ext cx="788652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ko-KR" sz="18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B07CFF-8037-4808-AE8F-ED8BDCBEA360}" type="slidenum"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ko-KR" sz="33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마스터 제목 스타일 편집</a:t>
            </a:r>
            <a:endParaRPr lang="en-US" sz="33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85840" cy="326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</a:pPr>
            <a:r>
              <a:rPr lang="ko-KR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두 번째 수준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세 번째 수준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네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다섯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29240" y="1369080"/>
            <a:ext cx="3885840" cy="3263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</a:pPr>
            <a:r>
              <a:rPr lang="ko-KR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두 번째 수준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세 번째 수준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네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다섯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BA2B89-BC0C-429F-97A9-712726A42884}" type="slidenum"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교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3000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ko-KR" sz="33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마스터 제목 스타일 편집</a:t>
            </a:r>
            <a:endParaRPr lang="en-US" sz="33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30000" y="1260720"/>
            <a:ext cx="3867840" cy="61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30000" y="1878840"/>
            <a:ext cx="3867840" cy="276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</a:pPr>
            <a:r>
              <a:rPr lang="ko-KR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두 번째 수준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세 번째 수준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네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다섯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29240" y="1260720"/>
            <a:ext cx="3886920" cy="61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29240" y="1878840"/>
            <a:ext cx="3886920" cy="276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</a:pPr>
            <a:r>
              <a:rPr lang="ko-KR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두 번째 수준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세 번째 수준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네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35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다섯 번째 수준</a:t>
            </a:r>
            <a:endParaRPr lang="en-US" sz="135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F21EAD-5873-4577-AC63-CA48C3271A9E}" type="slidenum"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ko-KR" sz="33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마스터 제목 스타일 편집</a:t>
            </a:r>
            <a:endParaRPr lang="en-US" sz="33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9B71C3-4821-4DCD-9D55-DD4266DF787F}" type="slidenum"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8F07C5-744E-4E6D-B47E-9608052B7C38}" type="slidenum"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캡션 있는 콘텐츠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760" cy="119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마스터 제목 스타일 편집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880" cy="365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</a:pP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514440" lvl="1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두 번째 수준</a:t>
            </a:r>
            <a:endParaRPr lang="en-US" sz="21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57160" lvl="2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세 번째 수준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00240" lvl="3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네 번째 수준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542960" lvl="4" indent="-171360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ko-KR" sz="15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다섯 번째 수준</a:t>
            </a:r>
            <a:endParaRPr lang="en-US" sz="15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760" cy="285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BD3C0C-9E37-4362-906F-C93D4052AC13}" type="slidenum"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캡션 있는 그림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760" cy="119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685800">
              <a:lnSpc>
                <a:spcPct val="90000"/>
              </a:lnSpc>
              <a:buNone/>
            </a:pP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마스터 제목 스타일 편집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880" cy="3654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그림을 추가하려면 아이콘을 클릭하십시오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760" cy="285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ko-KR" sz="1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마스터 텍스트 스타일을 편집하려면 클릭</a:t>
            </a:r>
            <a:endParaRPr lang="en-US" sz="1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A1E523-BF68-4EBF-8BFB-87A2BC63A545}" type="slidenum">
              <a:rPr lang="en-US" sz="9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Shape 1"/>
          <p:cNvSpPr/>
          <p:nvPr/>
        </p:nvSpPr>
        <p:spPr>
          <a:xfrm>
            <a:off x="0" y="5088600"/>
            <a:ext cx="9143640" cy="5436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3"/>
          <a:stretch/>
        </p:blipFill>
        <p:spPr>
          <a:xfrm>
            <a:off x="305640" y="1116720"/>
            <a:ext cx="282780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Shape 2"/>
          <p:cNvSpPr/>
          <p:nvPr/>
        </p:nvSpPr>
        <p:spPr>
          <a:xfrm>
            <a:off x="305640" y="2268720"/>
            <a:ext cx="2827800" cy="4536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 3"/>
          <p:cNvSpPr/>
          <p:nvPr/>
        </p:nvSpPr>
        <p:spPr>
          <a:xfrm>
            <a:off x="457200" y="2360160"/>
            <a:ext cx="2524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zh-CN" sz="850" b="0" u="none" strike="noStrike">
                <a:solidFill>
                  <a:srgbClr val="B4B4B4"/>
                </a:solidFill>
                <a:effectLst/>
                <a:uFillTx/>
                <a:latin typeface="Malgun Gothic"/>
                <a:ea typeface="Arial"/>
              </a:rPr>
              <a:t>에스트래픽 스마트 모빌리티 </a:t>
            </a:r>
            <a:r>
              <a:rPr lang="en-US" sz="850" b="0" u="none" strike="noStrike">
                <a:solidFill>
                  <a:srgbClr val="B4B4B4"/>
                </a:solidFill>
                <a:effectLst/>
                <a:uFillTx/>
                <a:latin typeface="Malgun Gothic"/>
                <a:ea typeface="Arial"/>
              </a:rPr>
              <a:t>DX Academy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457200" y="2662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zh-CN" sz="850" b="0" u="none" strike="noStrike">
                <a:solidFill>
                  <a:srgbClr val="B4B4B4"/>
                </a:solidFill>
                <a:effectLst/>
                <a:uFillTx/>
                <a:latin typeface="Malgun Gothic"/>
                <a:ea typeface="Arial"/>
              </a:rPr>
              <a:t>인천부평 </a:t>
            </a:r>
            <a:r>
              <a:rPr lang="en-US" sz="850" b="0" u="none" strike="noStrike">
                <a:solidFill>
                  <a:srgbClr val="B4B4B4"/>
                </a:solidFill>
                <a:effectLst/>
                <a:uFillTx/>
                <a:latin typeface="Malgun Gothic"/>
                <a:ea typeface="Arial"/>
              </a:rPr>
              <a:t>3</a:t>
            </a:r>
            <a:r>
              <a:rPr lang="zh-CN" sz="850" b="0" u="none" strike="noStrike">
                <a:solidFill>
                  <a:srgbClr val="B4B4B4"/>
                </a:solidFill>
                <a:effectLst/>
                <a:uFillTx/>
                <a:latin typeface="Malgun Gothic"/>
                <a:ea typeface="Arial"/>
              </a:rPr>
              <a:t>기 </a:t>
            </a:r>
            <a:r>
              <a:rPr lang="en-US" sz="850" b="0" u="none" strike="noStrike">
                <a:solidFill>
                  <a:srgbClr val="B4B4B4"/>
                </a:solidFill>
                <a:effectLst/>
                <a:uFillTx/>
                <a:latin typeface="Malgun Gothic"/>
                <a:ea typeface="Arial"/>
              </a:rPr>
              <a:t>1</a:t>
            </a:r>
            <a:r>
              <a:rPr lang="zh-CN" sz="850" b="0" u="none" strike="noStrike">
                <a:solidFill>
                  <a:srgbClr val="B4B4B4"/>
                </a:solidFill>
                <a:effectLst/>
                <a:uFillTx/>
                <a:latin typeface="Malgun Gothic"/>
                <a:ea typeface="Arial"/>
              </a:rPr>
              <a:t>조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457200" y="300024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E6A817"/>
                </a:solidFill>
                <a:effectLst/>
                <a:uFillTx/>
                <a:latin typeface="Malgun Gothic"/>
                <a:ea typeface="Arial"/>
              </a:rPr>
              <a:t>팀 네바퀴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457200" y="33660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4B4B4"/>
                </a:solidFill>
                <a:effectLst/>
                <a:uFillTx/>
                <a:latin typeface="Malgun Gothic"/>
                <a:ea typeface="Arial"/>
              </a:rPr>
              <a:t>2026. 6. 2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3014029" y="2143260"/>
            <a:ext cx="5760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ko-KR" sz="3200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차량 흐름 분석 시스템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2981880" y="3009240"/>
            <a:ext cx="57603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AI </a:t>
            </a:r>
            <a:r>
              <a:rPr lang="zh-CN" sz="2000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기반 차량 인식 </a:t>
            </a: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· </a:t>
            </a:r>
            <a:r>
              <a:rPr lang="zh-CN" sz="2000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속도 분석 시스템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2"/>
          <p:cNvSpPr/>
          <p:nvPr/>
        </p:nvSpPr>
        <p:spPr>
          <a:xfrm>
            <a:off x="0" y="5088600"/>
            <a:ext cx="9143640" cy="5436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548640" y="320040"/>
            <a:ext cx="6999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팀원 소개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4"/>
          <p:cNvSpPr/>
          <p:nvPr/>
        </p:nvSpPr>
        <p:spPr>
          <a:xfrm>
            <a:off x="117000" y="1130040"/>
            <a:ext cx="1729800" cy="3299760"/>
          </a:xfrm>
          <a:prstGeom prst="roundRect">
            <a:avLst>
              <a:gd name="adj" fmla="val 16667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177120" y="1239840"/>
            <a:ext cx="160956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E6A817"/>
                </a:solidFill>
                <a:effectLst/>
                <a:uFillTx/>
                <a:latin typeface="Malgun Gothic"/>
              </a:rPr>
              <a:t>PM / DB / AI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177120" y="1590120"/>
            <a:ext cx="16095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전보경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8"/>
          <p:cNvSpPr/>
          <p:nvPr/>
        </p:nvSpPr>
        <p:spPr>
          <a:xfrm>
            <a:off x="236880" y="2059920"/>
            <a:ext cx="1489680" cy="147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221940" y="2742186"/>
            <a:ext cx="1519560" cy="10201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사업 총괄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DB </a:t>
            </a:r>
            <a:r>
              <a:rPr lang="zh-CN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설계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·</a:t>
            </a:r>
            <a:r>
              <a:rPr lang="zh-CN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관리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50000"/>
              </a:lnSpc>
              <a:spcAft>
                <a:spcPts val="499"/>
              </a:spcAf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AI </a:t>
            </a:r>
            <a:r>
              <a:rPr lang="zh-CN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모델 개발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0"/>
          <p:cNvSpPr/>
          <p:nvPr/>
        </p:nvSpPr>
        <p:spPr>
          <a:xfrm>
            <a:off x="1911960" y="1130040"/>
            <a:ext cx="1729800" cy="3299760"/>
          </a:xfrm>
          <a:prstGeom prst="roundRect">
            <a:avLst>
              <a:gd name="adj" fmla="val 16667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1972080" y="1239840"/>
            <a:ext cx="160956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E6A817"/>
                </a:solidFill>
                <a:effectLst/>
                <a:uFillTx/>
                <a:latin typeface="Malgun Gothic"/>
              </a:rPr>
              <a:t>AI / DB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1972080" y="1590120"/>
            <a:ext cx="16095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700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박지영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14"/>
          <p:cNvSpPr/>
          <p:nvPr/>
        </p:nvSpPr>
        <p:spPr>
          <a:xfrm>
            <a:off x="2031840" y="2059920"/>
            <a:ext cx="1489680" cy="147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5"/>
          <p:cNvSpPr/>
          <p:nvPr/>
        </p:nvSpPr>
        <p:spPr>
          <a:xfrm>
            <a:off x="2016900" y="2742186"/>
            <a:ext cx="1519560" cy="10201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AI </a:t>
            </a:r>
            <a:r>
              <a:rPr lang="zh-CN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모델 개발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AI </a:t>
            </a:r>
            <a:r>
              <a:rPr lang="zh-CN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인식 테스트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50000"/>
              </a:lnSpc>
              <a:spcAft>
                <a:spcPts val="499"/>
              </a:spcAf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DB </a:t>
            </a:r>
            <a:r>
              <a:rPr lang="zh-CN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관리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16"/>
          <p:cNvSpPr/>
          <p:nvPr/>
        </p:nvSpPr>
        <p:spPr>
          <a:xfrm>
            <a:off x="3706920" y="1130040"/>
            <a:ext cx="1729800" cy="3299760"/>
          </a:xfrm>
          <a:prstGeom prst="roundRect">
            <a:avLst>
              <a:gd name="adj" fmla="val 16667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8"/>
          <p:cNvSpPr/>
          <p:nvPr/>
        </p:nvSpPr>
        <p:spPr>
          <a:xfrm>
            <a:off x="3767040" y="1239840"/>
            <a:ext cx="160956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80" b="1" u="none" strike="noStrike">
                <a:solidFill>
                  <a:srgbClr val="E6A817"/>
                </a:solidFill>
                <a:effectLst/>
                <a:uFillTx/>
                <a:latin typeface="Malgun Gothic"/>
              </a:rPr>
              <a:t>백엔드 </a:t>
            </a:r>
            <a:r>
              <a:rPr lang="en-US" sz="880" b="1" u="none" strike="noStrike">
                <a:solidFill>
                  <a:srgbClr val="E6A817"/>
                </a:solidFill>
                <a:effectLst/>
                <a:uFillTx/>
                <a:latin typeface="Malgun Gothic"/>
              </a:rPr>
              <a:t>/ FastAPI</a:t>
            </a:r>
            <a:endParaRPr lang="en-US" sz="8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9"/>
          <p:cNvSpPr/>
          <p:nvPr/>
        </p:nvSpPr>
        <p:spPr>
          <a:xfrm>
            <a:off x="3767040" y="1590120"/>
            <a:ext cx="16095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박재웅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20"/>
          <p:cNvSpPr/>
          <p:nvPr/>
        </p:nvSpPr>
        <p:spPr>
          <a:xfrm>
            <a:off x="3827160" y="2059920"/>
            <a:ext cx="1489680" cy="147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1"/>
          <p:cNvSpPr/>
          <p:nvPr/>
        </p:nvSpPr>
        <p:spPr>
          <a:xfrm>
            <a:off x="3812040" y="2742186"/>
            <a:ext cx="1519560" cy="10201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Malgun Gothic"/>
              </a:rPr>
              <a:t>FastAPI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 </a:t>
            </a:r>
            <a:r>
              <a:rPr lang="zh-CN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서버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AI </a:t>
            </a:r>
            <a:r>
              <a:rPr lang="zh-CN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서버 연동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50000"/>
              </a:lnSpc>
              <a:spcAft>
                <a:spcPts val="499"/>
              </a:spcAf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API </a:t>
            </a:r>
            <a:r>
              <a:rPr lang="zh-CN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흐름 정리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22"/>
          <p:cNvSpPr/>
          <p:nvPr/>
        </p:nvSpPr>
        <p:spPr>
          <a:xfrm>
            <a:off x="5501880" y="1130040"/>
            <a:ext cx="1729800" cy="3299760"/>
          </a:xfrm>
          <a:prstGeom prst="roundRect">
            <a:avLst>
              <a:gd name="adj" fmla="val 16667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4"/>
          <p:cNvSpPr/>
          <p:nvPr/>
        </p:nvSpPr>
        <p:spPr>
          <a:xfrm>
            <a:off x="5562000" y="1239840"/>
            <a:ext cx="160956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950" b="1" u="none" strike="noStrike">
                <a:solidFill>
                  <a:srgbClr val="E6A817"/>
                </a:solidFill>
                <a:effectLst/>
                <a:uFillTx/>
                <a:latin typeface="Malgun Gothic"/>
              </a:rPr>
              <a:t>백엔드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5"/>
          <p:cNvSpPr/>
          <p:nvPr/>
        </p:nvSpPr>
        <p:spPr>
          <a:xfrm>
            <a:off x="5562000" y="1590120"/>
            <a:ext cx="16095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김승민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26"/>
          <p:cNvSpPr/>
          <p:nvPr/>
        </p:nvSpPr>
        <p:spPr>
          <a:xfrm>
            <a:off x="5622120" y="2059920"/>
            <a:ext cx="1489680" cy="147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7"/>
          <p:cNvSpPr/>
          <p:nvPr/>
        </p:nvSpPr>
        <p:spPr>
          <a:xfrm>
            <a:off x="5607000" y="2742186"/>
            <a:ext cx="1564560" cy="10201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Spring Boot API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zh-CN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차량 흐름 분석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50000"/>
              </a:lnSpc>
              <a:spcAft>
                <a:spcPts val="499"/>
              </a:spcAft>
            </a:pPr>
            <a:r>
              <a:rPr lang="zh-CN" sz="14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백엔드 기능 구현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28"/>
          <p:cNvSpPr/>
          <p:nvPr/>
        </p:nvSpPr>
        <p:spPr>
          <a:xfrm>
            <a:off x="7296840" y="1130040"/>
            <a:ext cx="1729800" cy="3299760"/>
          </a:xfrm>
          <a:prstGeom prst="roundRect">
            <a:avLst>
              <a:gd name="adj" fmla="val 16667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30"/>
          <p:cNvSpPr/>
          <p:nvPr/>
        </p:nvSpPr>
        <p:spPr>
          <a:xfrm>
            <a:off x="7356960" y="1239840"/>
            <a:ext cx="1609560" cy="24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950" b="1" u="none" strike="noStrike">
                <a:solidFill>
                  <a:srgbClr val="E6A817"/>
                </a:solidFill>
                <a:effectLst/>
                <a:uFillTx/>
                <a:latin typeface="Malgun Gothic"/>
              </a:rPr>
              <a:t>프론트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1"/>
          <p:cNvSpPr/>
          <p:nvPr/>
        </p:nvSpPr>
        <p:spPr>
          <a:xfrm>
            <a:off x="7356960" y="1590120"/>
            <a:ext cx="16095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최동윤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32"/>
          <p:cNvSpPr/>
          <p:nvPr/>
        </p:nvSpPr>
        <p:spPr>
          <a:xfrm>
            <a:off x="7417080" y="2059920"/>
            <a:ext cx="1489680" cy="147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33"/>
          <p:cNvSpPr/>
          <p:nvPr/>
        </p:nvSpPr>
        <p:spPr>
          <a:xfrm>
            <a:off x="7296840" y="2742186"/>
            <a:ext cx="1729800" cy="1087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1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UI/UX </a:t>
            </a:r>
            <a:r>
              <a:rPr lang="zh-CN" sz="11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및 화면 구조 설계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lang="en-US" sz="11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Vue.js </a:t>
            </a:r>
            <a:r>
              <a:rPr lang="zh-CN" sz="11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프론트엔드 구현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lang="zh-CN" sz="11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데이터 시각화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0000"/>
              </a:lnSpc>
            </a:pPr>
            <a:r>
              <a:rPr lang="zh-CN" sz="11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관리 기능 개발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20000"/>
              </a:lnSpc>
              <a:spcAft>
                <a:spcPts val="300"/>
              </a:spcAft>
            </a:pPr>
            <a:r>
              <a:rPr lang="zh-CN" sz="11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성능 최적화 및 </a:t>
            </a:r>
            <a:r>
              <a:rPr lang="en-US" sz="11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UX </a:t>
            </a:r>
            <a:r>
              <a:rPr lang="zh-CN" sz="1100" b="0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개선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ectangle 2"/>
          <p:cNvSpPr/>
          <p:nvPr/>
        </p:nvSpPr>
        <p:spPr>
          <a:xfrm>
            <a:off x="0" y="5088600"/>
            <a:ext cx="9143640" cy="5436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548640" y="320040"/>
            <a:ext cx="6999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프로젝트 배경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470160" y="1220040"/>
            <a:ext cx="3949560" cy="3349800"/>
          </a:xfrm>
          <a:prstGeom prst="roundRect">
            <a:avLst>
              <a:gd name="adj" fmla="val 16667"/>
            </a:avLst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ounded Rectangle 5"/>
          <p:cNvSpPr/>
          <p:nvPr/>
        </p:nvSpPr>
        <p:spPr>
          <a:xfrm>
            <a:off x="4719960" y="1220040"/>
            <a:ext cx="3949560" cy="3349800"/>
          </a:xfrm>
          <a:prstGeom prst="roundRect">
            <a:avLst>
              <a:gd name="adj" fmla="val 16667"/>
            </a:avLst>
          </a:prstGeom>
          <a:solidFill>
            <a:srgbClr val="3A3A3A"/>
          </a:solidFill>
          <a:ln w="1524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6"/>
          <p:cNvSpPr/>
          <p:nvPr/>
        </p:nvSpPr>
        <p:spPr>
          <a:xfrm>
            <a:off x="630000" y="1440000"/>
            <a:ext cx="362952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2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기존 차량 흐름 분석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7"/>
          <p:cNvSpPr/>
          <p:nvPr/>
        </p:nvSpPr>
        <p:spPr>
          <a:xfrm>
            <a:off x="699840" y="1940040"/>
            <a:ext cx="3489480" cy="147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8"/>
          <p:cNvSpPr/>
          <p:nvPr/>
        </p:nvSpPr>
        <p:spPr>
          <a:xfrm>
            <a:off x="730080" y="2720160"/>
            <a:ext cx="3429720" cy="59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2100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차량 수 기반 통행량 분석</a:t>
            </a:r>
            <a:endParaRPr lang="en-US" sz="2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9"/>
          <p:cNvSpPr/>
          <p:nvPr/>
        </p:nvSpPr>
        <p:spPr>
          <a:xfrm>
            <a:off x="4880160" y="1440000"/>
            <a:ext cx="3629520" cy="3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E6A817"/>
                </a:solidFill>
                <a:effectLst/>
                <a:uFillTx/>
                <a:latin typeface="Malgun Gothic"/>
              </a:rPr>
              <a:t>TAS </a:t>
            </a:r>
            <a:r>
              <a:rPr lang="zh-CN" sz="2000" b="1" u="none" strike="noStrike">
                <a:solidFill>
                  <a:srgbClr val="E6A817"/>
                </a:solidFill>
                <a:effectLst/>
                <a:uFillTx/>
                <a:latin typeface="Malgun Gothic"/>
              </a:rPr>
              <a:t>시스템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10"/>
          <p:cNvSpPr/>
          <p:nvPr/>
        </p:nvSpPr>
        <p:spPr>
          <a:xfrm>
            <a:off x="4950000" y="1940040"/>
            <a:ext cx="3489480" cy="14760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9880" rIns="90000" bIns="-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1"/>
          <p:cNvSpPr/>
          <p:nvPr/>
        </p:nvSpPr>
        <p:spPr>
          <a:xfrm>
            <a:off x="5019840" y="2432126"/>
            <a:ext cx="3349800" cy="12856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번호판 </a:t>
            </a: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OCR </a:t>
            </a:r>
            <a:r>
              <a:rPr lang="zh-CN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기반 차량 식별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중복 제거 기반 정확도 향상</a:t>
            </a:r>
            <a:endParaRPr lang="en-US" altLang="zh-CN" dirty="0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속도 분석 및 위반 차량 확인</a:t>
            </a:r>
            <a:endParaRPr lang="en-US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9143640" cy="6840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2"/>
          <p:cNvSpPr/>
          <p:nvPr/>
        </p:nvSpPr>
        <p:spPr>
          <a:xfrm>
            <a:off x="0" y="5074920"/>
            <a:ext cx="9143640" cy="6840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548640" y="320040"/>
            <a:ext cx="6999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시스템 개요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4"/>
          <p:cNvSpPr/>
          <p:nvPr/>
        </p:nvSpPr>
        <p:spPr>
          <a:xfrm>
            <a:off x="330120" y="1450080"/>
            <a:ext cx="1509480" cy="259956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3" name="Picture 5" descr="image.png"/>
          <p:cNvPicPr/>
          <p:nvPr/>
        </p:nvPicPr>
        <p:blipFill>
          <a:blip r:embed="rId3"/>
          <a:stretch/>
        </p:blipFill>
        <p:spPr>
          <a:xfrm>
            <a:off x="865080" y="1810080"/>
            <a:ext cx="439560" cy="43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Box 6"/>
          <p:cNvSpPr/>
          <p:nvPr/>
        </p:nvSpPr>
        <p:spPr>
          <a:xfrm>
            <a:off x="420120" y="2570040"/>
            <a:ext cx="132948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영상 수집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420120" y="3110040"/>
            <a:ext cx="132948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카메라 입력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ight Arrow 8"/>
          <p:cNvSpPr/>
          <p:nvPr/>
        </p:nvSpPr>
        <p:spPr>
          <a:xfrm>
            <a:off x="1876680" y="2684880"/>
            <a:ext cx="159480" cy="12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ounded Rectangle 9"/>
          <p:cNvSpPr/>
          <p:nvPr/>
        </p:nvSpPr>
        <p:spPr>
          <a:xfrm>
            <a:off x="2073600" y="1450080"/>
            <a:ext cx="1509480" cy="259956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8" name="Picture 10" descr="image.png"/>
          <p:cNvPicPr/>
          <p:nvPr/>
        </p:nvPicPr>
        <p:blipFill>
          <a:blip r:embed="rId4"/>
          <a:stretch/>
        </p:blipFill>
        <p:spPr>
          <a:xfrm>
            <a:off x="2608560" y="1810080"/>
            <a:ext cx="439560" cy="43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11"/>
          <p:cNvSpPr/>
          <p:nvPr/>
        </p:nvSpPr>
        <p:spPr>
          <a:xfrm>
            <a:off x="2163600" y="2570040"/>
            <a:ext cx="132948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차량 탐지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2"/>
          <p:cNvSpPr/>
          <p:nvPr/>
        </p:nvSpPr>
        <p:spPr>
          <a:xfrm>
            <a:off x="2163600" y="3110040"/>
            <a:ext cx="132948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객체 검출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ight Arrow 13"/>
          <p:cNvSpPr/>
          <p:nvPr/>
        </p:nvSpPr>
        <p:spPr>
          <a:xfrm>
            <a:off x="3620160" y="2684880"/>
            <a:ext cx="159480" cy="12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ounded Rectangle 14"/>
          <p:cNvSpPr/>
          <p:nvPr/>
        </p:nvSpPr>
        <p:spPr>
          <a:xfrm>
            <a:off x="3817080" y="1450080"/>
            <a:ext cx="1509480" cy="259956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Picture 15" descr="image.png"/>
          <p:cNvPicPr/>
          <p:nvPr/>
        </p:nvPicPr>
        <p:blipFill>
          <a:blip r:embed="rId5"/>
          <a:stretch/>
        </p:blipFill>
        <p:spPr>
          <a:xfrm>
            <a:off x="4352040" y="1810080"/>
            <a:ext cx="439560" cy="43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Box 16"/>
          <p:cNvSpPr/>
          <p:nvPr/>
        </p:nvSpPr>
        <p:spPr>
          <a:xfrm>
            <a:off x="3869640" y="2603675"/>
            <a:ext cx="1456560" cy="3524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7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번호판 </a:t>
            </a:r>
            <a:r>
              <a:rPr lang="ko-KR" altLang="en-US" sz="17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인</a:t>
            </a:r>
            <a:r>
              <a:rPr lang="zh-CN" sz="17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식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7"/>
          <p:cNvSpPr/>
          <p:nvPr/>
        </p:nvSpPr>
        <p:spPr>
          <a:xfrm>
            <a:off x="3907080" y="3110040"/>
            <a:ext cx="132948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OCR </a:t>
            </a:r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인식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ight Arrow 18"/>
          <p:cNvSpPr/>
          <p:nvPr/>
        </p:nvSpPr>
        <p:spPr>
          <a:xfrm>
            <a:off x="5363640" y="2684880"/>
            <a:ext cx="159480" cy="12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ounded Rectangle 19"/>
          <p:cNvSpPr/>
          <p:nvPr/>
        </p:nvSpPr>
        <p:spPr>
          <a:xfrm>
            <a:off x="5560560" y="1450080"/>
            <a:ext cx="1509480" cy="259956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8" name="Picture 20" descr="image.png"/>
          <p:cNvPicPr/>
          <p:nvPr/>
        </p:nvPicPr>
        <p:blipFill>
          <a:blip r:embed="rId6"/>
          <a:stretch/>
        </p:blipFill>
        <p:spPr>
          <a:xfrm>
            <a:off x="6095520" y="1810080"/>
            <a:ext cx="439560" cy="43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Box 21"/>
          <p:cNvSpPr/>
          <p:nvPr/>
        </p:nvSpPr>
        <p:spPr>
          <a:xfrm>
            <a:off x="5632020" y="2604438"/>
            <a:ext cx="1366560" cy="3524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7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데이터 처리</a:t>
            </a:r>
            <a:endParaRPr lang="en-US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2"/>
          <p:cNvSpPr/>
          <p:nvPr/>
        </p:nvSpPr>
        <p:spPr>
          <a:xfrm>
            <a:off x="5650560" y="3110040"/>
            <a:ext cx="132948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분석</a:t>
            </a: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·</a:t>
            </a:r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저장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ight Arrow 23"/>
          <p:cNvSpPr/>
          <p:nvPr/>
        </p:nvSpPr>
        <p:spPr>
          <a:xfrm>
            <a:off x="7107120" y="2684880"/>
            <a:ext cx="159480" cy="129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ounded Rectangle 24"/>
          <p:cNvSpPr/>
          <p:nvPr/>
        </p:nvSpPr>
        <p:spPr>
          <a:xfrm>
            <a:off x="7304040" y="1450080"/>
            <a:ext cx="1509480" cy="259956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5" descr="image.png"/>
          <p:cNvPicPr/>
          <p:nvPr/>
        </p:nvPicPr>
        <p:blipFill>
          <a:blip r:embed="rId7"/>
          <a:stretch/>
        </p:blipFill>
        <p:spPr>
          <a:xfrm>
            <a:off x="7839000" y="1810080"/>
            <a:ext cx="439560" cy="43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Box 26"/>
          <p:cNvSpPr/>
          <p:nvPr/>
        </p:nvSpPr>
        <p:spPr>
          <a:xfrm>
            <a:off x="7394040" y="2570040"/>
            <a:ext cx="1329480" cy="41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7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대시보드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7"/>
          <p:cNvSpPr/>
          <p:nvPr/>
        </p:nvSpPr>
        <p:spPr>
          <a:xfrm>
            <a:off x="7394040" y="3110040"/>
            <a:ext cx="132948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05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시각화 및 관리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9143640" cy="6840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2"/>
          <p:cNvSpPr/>
          <p:nvPr/>
        </p:nvSpPr>
        <p:spPr>
          <a:xfrm>
            <a:off x="0" y="5088600"/>
            <a:ext cx="9143640" cy="5436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548640" y="320040"/>
            <a:ext cx="6999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기술 스택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4"/>
          <p:cNvSpPr/>
          <p:nvPr/>
        </p:nvSpPr>
        <p:spPr>
          <a:xfrm>
            <a:off x="309960" y="1119960"/>
            <a:ext cx="2699640" cy="149976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5"/>
          <p:cNvSpPr/>
          <p:nvPr/>
        </p:nvSpPr>
        <p:spPr>
          <a:xfrm>
            <a:off x="439920" y="1230120"/>
            <a:ext cx="243972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AI </a:t>
            </a:r>
            <a:r>
              <a:rPr lang="zh-CN" sz="135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모델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1" name="Picture 6" descr="image.png"/>
          <p:cNvPicPr/>
          <p:nvPr/>
        </p:nvPicPr>
        <p:blipFill>
          <a:blip r:embed="rId3"/>
          <a:stretch/>
        </p:blipFill>
        <p:spPr>
          <a:xfrm>
            <a:off x="618844" y="1591020"/>
            <a:ext cx="1051196" cy="53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Picture 7" descr="image.png"/>
          <p:cNvPicPr/>
          <p:nvPr/>
        </p:nvPicPr>
        <p:blipFill>
          <a:blip r:embed="rId4"/>
          <a:stretch/>
        </p:blipFill>
        <p:spPr>
          <a:xfrm>
            <a:off x="1960560" y="1625399"/>
            <a:ext cx="412560" cy="504181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Box 9"/>
          <p:cNvSpPr/>
          <p:nvPr/>
        </p:nvSpPr>
        <p:spPr>
          <a:xfrm>
            <a:off x="429840" y="2340000"/>
            <a:ext cx="2459520" cy="21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YOLO11 · OpenCV · PaddleOCR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10"/>
          <p:cNvSpPr/>
          <p:nvPr/>
        </p:nvSpPr>
        <p:spPr>
          <a:xfrm>
            <a:off x="3222000" y="1119960"/>
            <a:ext cx="2699640" cy="149976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11"/>
          <p:cNvSpPr/>
          <p:nvPr/>
        </p:nvSpPr>
        <p:spPr>
          <a:xfrm>
            <a:off x="3351960" y="1230120"/>
            <a:ext cx="243972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AI </a:t>
            </a:r>
            <a:r>
              <a:rPr lang="zh-CN" sz="135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서버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7" name="Picture 12" descr="image.png"/>
          <p:cNvPicPr/>
          <p:nvPr/>
        </p:nvPicPr>
        <p:blipFill>
          <a:blip r:embed="rId5"/>
          <a:stretch/>
        </p:blipFill>
        <p:spPr>
          <a:xfrm>
            <a:off x="3949920" y="1679940"/>
            <a:ext cx="419760" cy="44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13" descr="image.png"/>
          <p:cNvPicPr/>
          <p:nvPr/>
        </p:nvPicPr>
        <p:blipFill>
          <a:blip r:embed="rId6"/>
          <a:stretch/>
        </p:blipFill>
        <p:spPr>
          <a:xfrm>
            <a:off x="4528080" y="1635480"/>
            <a:ext cx="904367" cy="4941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Box 14"/>
          <p:cNvSpPr/>
          <p:nvPr/>
        </p:nvSpPr>
        <p:spPr>
          <a:xfrm>
            <a:off x="3341880" y="2340000"/>
            <a:ext cx="2459520" cy="21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Python · FastAPI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15"/>
          <p:cNvSpPr/>
          <p:nvPr/>
        </p:nvSpPr>
        <p:spPr>
          <a:xfrm>
            <a:off x="6134040" y="1119960"/>
            <a:ext cx="2699640" cy="149976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6"/>
          <p:cNvSpPr/>
          <p:nvPr/>
        </p:nvSpPr>
        <p:spPr>
          <a:xfrm>
            <a:off x="6264000" y="1230120"/>
            <a:ext cx="243972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백엔드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17" descr="image.png"/>
          <p:cNvPicPr/>
          <p:nvPr/>
        </p:nvPicPr>
        <p:blipFill>
          <a:blip r:embed="rId7"/>
          <a:stretch/>
        </p:blipFill>
        <p:spPr>
          <a:xfrm>
            <a:off x="6870600" y="1620000"/>
            <a:ext cx="268200" cy="490508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18" descr="image.png"/>
          <p:cNvPicPr/>
          <p:nvPr/>
        </p:nvPicPr>
        <p:blipFill>
          <a:blip r:embed="rId8"/>
          <a:stretch/>
        </p:blipFill>
        <p:spPr>
          <a:xfrm>
            <a:off x="7259040" y="1620000"/>
            <a:ext cx="837720" cy="49050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Box 19"/>
          <p:cNvSpPr/>
          <p:nvPr/>
        </p:nvSpPr>
        <p:spPr>
          <a:xfrm>
            <a:off x="6253920" y="2340000"/>
            <a:ext cx="2459520" cy="21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Java · Spring Boot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20"/>
          <p:cNvSpPr/>
          <p:nvPr/>
        </p:nvSpPr>
        <p:spPr>
          <a:xfrm>
            <a:off x="309960" y="2919960"/>
            <a:ext cx="2699640" cy="149976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21"/>
          <p:cNvSpPr/>
          <p:nvPr/>
        </p:nvSpPr>
        <p:spPr>
          <a:xfrm>
            <a:off x="439920" y="3030120"/>
            <a:ext cx="243972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프론트엔드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Picture 22" descr="image.png"/>
          <p:cNvPicPr/>
          <p:nvPr/>
        </p:nvPicPr>
        <p:blipFill>
          <a:blip r:embed="rId9"/>
          <a:stretch/>
        </p:blipFill>
        <p:spPr>
          <a:xfrm>
            <a:off x="946440" y="3420000"/>
            <a:ext cx="899640" cy="53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Picture 23" descr="image.png"/>
          <p:cNvPicPr/>
          <p:nvPr/>
        </p:nvPicPr>
        <p:blipFill>
          <a:blip r:embed="rId10"/>
          <a:stretch/>
        </p:blipFill>
        <p:spPr>
          <a:xfrm>
            <a:off x="1966320" y="3420000"/>
            <a:ext cx="40680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Box 24"/>
          <p:cNvSpPr/>
          <p:nvPr/>
        </p:nvSpPr>
        <p:spPr>
          <a:xfrm>
            <a:off x="429840" y="4140000"/>
            <a:ext cx="2459520" cy="21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Vue.js 3 · Vite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25"/>
          <p:cNvSpPr/>
          <p:nvPr/>
        </p:nvSpPr>
        <p:spPr>
          <a:xfrm>
            <a:off x="3222000" y="2919960"/>
            <a:ext cx="2699640" cy="149976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26"/>
          <p:cNvSpPr/>
          <p:nvPr/>
        </p:nvSpPr>
        <p:spPr>
          <a:xfrm>
            <a:off x="3351960" y="3030120"/>
            <a:ext cx="243972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DB / </a:t>
            </a:r>
            <a:r>
              <a:rPr lang="zh-CN" sz="135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인프라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2" name="Picture 27" descr="image.png"/>
          <p:cNvPicPr/>
          <p:nvPr/>
        </p:nvPicPr>
        <p:blipFill>
          <a:blip r:embed="rId11"/>
          <a:stretch/>
        </p:blipFill>
        <p:spPr>
          <a:xfrm>
            <a:off x="3988440" y="3420000"/>
            <a:ext cx="539640" cy="53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Picture 28" descr="image.png"/>
          <p:cNvPicPr/>
          <p:nvPr/>
        </p:nvPicPr>
        <p:blipFill>
          <a:blip r:embed="rId12"/>
          <a:stretch/>
        </p:blipFill>
        <p:spPr>
          <a:xfrm>
            <a:off x="4648320" y="3420000"/>
            <a:ext cx="50688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TextBox 29"/>
          <p:cNvSpPr/>
          <p:nvPr/>
        </p:nvSpPr>
        <p:spPr>
          <a:xfrm>
            <a:off x="3341880" y="4140000"/>
            <a:ext cx="2459520" cy="21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PostgreSQL · Docker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30"/>
          <p:cNvSpPr/>
          <p:nvPr/>
        </p:nvSpPr>
        <p:spPr>
          <a:xfrm>
            <a:off x="6134040" y="2919960"/>
            <a:ext cx="2699640" cy="149976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31"/>
          <p:cNvSpPr/>
          <p:nvPr/>
        </p:nvSpPr>
        <p:spPr>
          <a:xfrm>
            <a:off x="6264000" y="3030120"/>
            <a:ext cx="2439720" cy="25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5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협업 도구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7" name="Picture 32" descr="image.png"/>
          <p:cNvPicPr/>
          <p:nvPr/>
        </p:nvPicPr>
        <p:blipFill>
          <a:blip r:embed="rId13"/>
          <a:stretch/>
        </p:blipFill>
        <p:spPr>
          <a:xfrm>
            <a:off x="6748560" y="3420000"/>
            <a:ext cx="432720" cy="53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Picture 33" descr="image.png"/>
          <p:cNvPicPr/>
          <p:nvPr/>
        </p:nvPicPr>
        <p:blipFill>
          <a:blip r:embed="rId14"/>
          <a:stretch/>
        </p:blipFill>
        <p:spPr>
          <a:xfrm>
            <a:off x="7301880" y="3420000"/>
            <a:ext cx="377280" cy="53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Picture 34" descr="image.png"/>
          <p:cNvPicPr/>
          <p:nvPr/>
        </p:nvPicPr>
        <p:blipFill>
          <a:blip r:embed="rId15"/>
          <a:stretch/>
        </p:blipFill>
        <p:spPr>
          <a:xfrm>
            <a:off x="7799400" y="3420000"/>
            <a:ext cx="4197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Box 35"/>
          <p:cNvSpPr/>
          <p:nvPr/>
        </p:nvSpPr>
        <p:spPr>
          <a:xfrm>
            <a:off x="6253920" y="4140000"/>
            <a:ext cx="2459520" cy="21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2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GitHub · Notion · Discord</a:t>
            </a:r>
            <a:endParaRPr lang="en-US" sz="1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DE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2"/>
          <p:cNvSpPr/>
          <p:nvPr/>
        </p:nvSpPr>
        <p:spPr>
          <a:xfrm>
            <a:off x="0" y="5079600"/>
            <a:ext cx="9143640" cy="63720"/>
          </a:xfrm>
          <a:prstGeom prst="rect">
            <a:avLst/>
          </a:prstGeom>
          <a:solidFill>
            <a:srgbClr val="DEA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548640" y="32004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OCR </a:t>
            </a: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모델 선정 및 전처리 비교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6"/>
          <p:cNvSpPr/>
          <p:nvPr/>
        </p:nvSpPr>
        <p:spPr>
          <a:xfrm>
            <a:off x="594360" y="1545480"/>
            <a:ext cx="3885840" cy="2605680"/>
          </a:xfrm>
          <a:prstGeom prst="roundRect">
            <a:avLst>
              <a:gd name="adj" fmla="val 16667"/>
            </a:avLst>
          </a:prstGeom>
          <a:solidFill>
            <a:srgbClr val="F8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850320" y="1774080"/>
            <a:ext cx="3373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32323"/>
                </a:solidFill>
                <a:effectLst/>
                <a:uFillTx/>
                <a:latin typeface="Malgun Gothic"/>
              </a:rPr>
              <a:t>OCR </a:t>
            </a:r>
            <a:r>
              <a:rPr lang="zh-CN" sz="1500" b="1" u="none" strike="noStrike">
                <a:solidFill>
                  <a:srgbClr val="232323"/>
                </a:solidFill>
                <a:effectLst/>
                <a:uFillTx/>
                <a:latin typeface="Malgun Gothic"/>
              </a:rPr>
              <a:t>모델 비교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8"/>
          <p:cNvSpPr/>
          <p:nvPr/>
        </p:nvSpPr>
        <p:spPr>
          <a:xfrm>
            <a:off x="822960" y="2240280"/>
            <a:ext cx="3428640" cy="29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978480" y="23133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32323"/>
                </a:solidFill>
                <a:effectLst/>
                <a:uFillTx/>
                <a:latin typeface="Malgun Gothic"/>
              </a:rPr>
              <a:t>EasyOCR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0"/>
          <p:cNvSpPr/>
          <p:nvPr/>
        </p:nvSpPr>
        <p:spPr>
          <a:xfrm>
            <a:off x="2011680" y="2313360"/>
            <a:ext cx="1553040" cy="17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PaddleOCR </a:t>
            </a:r>
            <a:r>
              <a:rPr lang="zh-CN" sz="9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대비 인식률 낮음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11"/>
          <p:cNvSpPr/>
          <p:nvPr/>
        </p:nvSpPr>
        <p:spPr>
          <a:xfrm>
            <a:off x="822960" y="2578680"/>
            <a:ext cx="3428640" cy="29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2"/>
          <p:cNvSpPr/>
          <p:nvPr/>
        </p:nvSpPr>
        <p:spPr>
          <a:xfrm>
            <a:off x="978480" y="26517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32323"/>
                </a:solidFill>
                <a:effectLst/>
                <a:uFillTx/>
                <a:latin typeface="Malgun Gothic"/>
              </a:rPr>
              <a:t>CRNN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3"/>
          <p:cNvSpPr/>
          <p:nvPr/>
        </p:nvSpPr>
        <p:spPr>
          <a:xfrm>
            <a:off x="2011680" y="2651760"/>
            <a:ext cx="924480" cy="17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한글 인식 불안정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14"/>
          <p:cNvSpPr/>
          <p:nvPr/>
        </p:nvSpPr>
        <p:spPr>
          <a:xfrm>
            <a:off x="822960" y="2917080"/>
            <a:ext cx="3428640" cy="29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15"/>
          <p:cNvSpPr/>
          <p:nvPr/>
        </p:nvSpPr>
        <p:spPr>
          <a:xfrm>
            <a:off x="978480" y="29901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32323"/>
                </a:solidFill>
                <a:effectLst/>
                <a:uFillTx/>
                <a:latin typeface="Malgun Gothic"/>
              </a:rPr>
              <a:t>Tesseract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6"/>
          <p:cNvSpPr/>
          <p:nvPr/>
        </p:nvSpPr>
        <p:spPr>
          <a:xfrm>
            <a:off x="2011680" y="2990160"/>
            <a:ext cx="1965600" cy="17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실시간 처리에 부담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17"/>
          <p:cNvSpPr/>
          <p:nvPr/>
        </p:nvSpPr>
        <p:spPr>
          <a:xfrm>
            <a:off x="822960" y="3255120"/>
            <a:ext cx="3428640" cy="292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18"/>
          <p:cNvSpPr/>
          <p:nvPr/>
        </p:nvSpPr>
        <p:spPr>
          <a:xfrm>
            <a:off x="978480" y="33285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32323"/>
                </a:solidFill>
                <a:effectLst/>
                <a:uFillTx/>
                <a:latin typeface="Malgun Gothic"/>
              </a:rPr>
              <a:t>PARSeq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9"/>
          <p:cNvSpPr/>
          <p:nvPr/>
        </p:nvSpPr>
        <p:spPr>
          <a:xfrm>
            <a:off x="2011680" y="3328560"/>
            <a:ext cx="1195560" cy="17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한글 인식 안정성 부족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20"/>
          <p:cNvSpPr/>
          <p:nvPr/>
        </p:nvSpPr>
        <p:spPr>
          <a:xfrm>
            <a:off x="822960" y="3593520"/>
            <a:ext cx="3428640" cy="29232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762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21"/>
          <p:cNvSpPr/>
          <p:nvPr/>
        </p:nvSpPr>
        <p:spPr>
          <a:xfrm>
            <a:off x="978480" y="366660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PaddleOCR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2"/>
          <p:cNvSpPr/>
          <p:nvPr/>
        </p:nvSpPr>
        <p:spPr>
          <a:xfrm>
            <a:off x="2011680" y="3666600"/>
            <a:ext cx="538200" cy="17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90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최종 선택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3"/>
          <p:cNvSpPr/>
          <p:nvPr/>
        </p:nvSpPr>
        <p:spPr>
          <a:xfrm>
            <a:off x="3822120" y="366660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24"/>
          <p:cNvSpPr/>
          <p:nvPr/>
        </p:nvSpPr>
        <p:spPr>
          <a:xfrm>
            <a:off x="4663440" y="1545480"/>
            <a:ext cx="3885840" cy="2605680"/>
          </a:xfrm>
          <a:prstGeom prst="roundRect">
            <a:avLst>
              <a:gd name="adj" fmla="val 16667"/>
            </a:avLst>
          </a:prstGeom>
          <a:solidFill>
            <a:srgbClr val="F8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25"/>
          <p:cNvSpPr/>
          <p:nvPr/>
        </p:nvSpPr>
        <p:spPr>
          <a:xfrm>
            <a:off x="4919400" y="1774080"/>
            <a:ext cx="3373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500" b="1" u="none" strike="noStrike">
                <a:solidFill>
                  <a:srgbClr val="232323"/>
                </a:solidFill>
                <a:effectLst/>
                <a:uFillTx/>
                <a:latin typeface="Malgun Gothic"/>
              </a:rPr>
              <a:t>전처리 방식 비교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Rounded Rectangle 26"/>
          <p:cNvSpPr/>
          <p:nvPr/>
        </p:nvSpPr>
        <p:spPr>
          <a:xfrm>
            <a:off x="4892040" y="2240280"/>
            <a:ext cx="3428640" cy="51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27"/>
          <p:cNvSpPr/>
          <p:nvPr/>
        </p:nvSpPr>
        <p:spPr>
          <a:xfrm>
            <a:off x="5054760" y="2394360"/>
            <a:ext cx="1142640" cy="45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232323"/>
                </a:solidFill>
                <a:effectLst/>
                <a:uFillTx/>
                <a:latin typeface="Malgun Gothic"/>
              </a:rPr>
              <a:t>샤프닝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8"/>
          <p:cNvSpPr/>
          <p:nvPr/>
        </p:nvSpPr>
        <p:spPr>
          <a:xfrm>
            <a:off x="6080760" y="2393280"/>
            <a:ext cx="653760" cy="17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결과 불안정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29"/>
          <p:cNvSpPr/>
          <p:nvPr/>
        </p:nvSpPr>
        <p:spPr>
          <a:xfrm>
            <a:off x="4885200" y="2804040"/>
            <a:ext cx="3428640" cy="51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30"/>
          <p:cNvSpPr/>
          <p:nvPr/>
        </p:nvSpPr>
        <p:spPr>
          <a:xfrm>
            <a:off x="5042160" y="2966760"/>
            <a:ext cx="1142640" cy="45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000" b="1" u="none" strike="noStrike">
                <a:solidFill>
                  <a:srgbClr val="232323"/>
                </a:solidFill>
                <a:effectLst/>
                <a:uFillTx/>
                <a:latin typeface="Malgun Gothic"/>
              </a:rPr>
              <a:t>샤프닝</a:t>
            </a:r>
            <a:r>
              <a:rPr lang="en-US" sz="1000" b="1" u="none" strike="noStrike">
                <a:solidFill>
                  <a:srgbClr val="232323"/>
                </a:solidFill>
                <a:effectLst/>
                <a:uFillTx/>
                <a:latin typeface="Malgun Gothic"/>
              </a:rPr>
              <a:t>+</a:t>
            </a:r>
            <a:r>
              <a:rPr lang="zh-CN" sz="1000" b="1" u="none" strike="noStrike">
                <a:solidFill>
                  <a:srgbClr val="232323"/>
                </a:solidFill>
                <a:effectLst/>
                <a:uFillTx/>
                <a:latin typeface="Malgun Gothic"/>
              </a:rPr>
              <a:t>이진화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31"/>
          <p:cNvSpPr/>
          <p:nvPr/>
        </p:nvSpPr>
        <p:spPr>
          <a:xfrm>
            <a:off x="6080760" y="2962080"/>
            <a:ext cx="924480" cy="17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900" b="0" u="none" strike="noStrike">
                <a:solidFill>
                  <a:schemeClr val="dk1"/>
                </a:solidFill>
                <a:effectLst/>
                <a:uFillTx/>
                <a:latin typeface="Malgun Gothic"/>
              </a:rPr>
              <a:t>실패 케이스 다수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32"/>
          <p:cNvSpPr/>
          <p:nvPr/>
        </p:nvSpPr>
        <p:spPr>
          <a:xfrm>
            <a:off x="4892040" y="3368160"/>
            <a:ext cx="3428640" cy="517680"/>
          </a:xfrm>
          <a:prstGeom prst="roundRect">
            <a:avLst>
              <a:gd name="adj" fmla="val 16667"/>
            </a:avLst>
          </a:prstGeom>
          <a:solidFill>
            <a:srgbClr val="FFF7DC"/>
          </a:solidFill>
          <a:ln w="762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33"/>
          <p:cNvSpPr/>
          <p:nvPr/>
        </p:nvSpPr>
        <p:spPr>
          <a:xfrm>
            <a:off x="5047560" y="3526920"/>
            <a:ext cx="1142640" cy="45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Blur+Adaptive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34"/>
          <p:cNvSpPr/>
          <p:nvPr/>
        </p:nvSpPr>
        <p:spPr>
          <a:xfrm>
            <a:off x="6080760" y="3557160"/>
            <a:ext cx="653760" cy="17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90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가장 안정적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35"/>
          <p:cNvSpPr/>
          <p:nvPr/>
        </p:nvSpPr>
        <p:spPr>
          <a:xfrm>
            <a:off x="7863840" y="3569760"/>
            <a:ext cx="411120" cy="45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A00A"/>
                </a:solidFill>
                <a:effectLst/>
                <a:uFillTx/>
                <a:latin typeface="Malgun Gothic"/>
              </a:rPr>
              <a:t>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ectangle 2"/>
          <p:cNvSpPr/>
          <p:nvPr/>
        </p:nvSpPr>
        <p:spPr>
          <a:xfrm>
            <a:off x="0" y="5079600"/>
            <a:ext cx="9143640" cy="6372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3"/>
          <p:cNvSpPr/>
          <p:nvPr/>
        </p:nvSpPr>
        <p:spPr>
          <a:xfrm>
            <a:off x="548640" y="320040"/>
            <a:ext cx="6999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OCR </a:t>
            </a: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처리 과정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4"/>
          <p:cNvSpPr/>
          <p:nvPr/>
        </p:nvSpPr>
        <p:spPr>
          <a:xfrm>
            <a:off x="33444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Oval 5"/>
          <p:cNvSpPr/>
          <p:nvPr/>
        </p:nvSpPr>
        <p:spPr>
          <a:xfrm>
            <a:off x="667440" y="1976760"/>
            <a:ext cx="534600" cy="534600"/>
          </a:xfrm>
          <a:prstGeom prst="ellipse">
            <a:avLst/>
          </a:prstGeom>
          <a:solidFill>
            <a:srgbClr val="2E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6"/>
          <p:cNvSpPr/>
          <p:nvPr/>
        </p:nvSpPr>
        <p:spPr>
          <a:xfrm>
            <a:off x="66744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CAR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7"/>
          <p:cNvSpPr/>
          <p:nvPr/>
        </p:nvSpPr>
        <p:spPr>
          <a:xfrm>
            <a:off x="452160" y="2854080"/>
            <a:ext cx="96552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차량 탐지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8"/>
          <p:cNvSpPr/>
          <p:nvPr/>
        </p:nvSpPr>
        <p:spPr>
          <a:xfrm>
            <a:off x="41760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차량 영역 검출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ight Arrow 9"/>
          <p:cNvSpPr/>
          <p:nvPr/>
        </p:nvSpPr>
        <p:spPr>
          <a:xfrm>
            <a:off x="1597860" y="2950199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ounded Rectangle 10"/>
          <p:cNvSpPr/>
          <p:nvPr/>
        </p:nvSpPr>
        <p:spPr>
          <a:xfrm>
            <a:off x="185148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Oval 11"/>
          <p:cNvSpPr/>
          <p:nvPr/>
        </p:nvSpPr>
        <p:spPr>
          <a:xfrm>
            <a:off x="2122200" y="1976760"/>
            <a:ext cx="534600" cy="534600"/>
          </a:xfrm>
          <a:prstGeom prst="ellipse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2"/>
          <p:cNvSpPr/>
          <p:nvPr/>
        </p:nvSpPr>
        <p:spPr>
          <a:xfrm>
            <a:off x="212220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PLATE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3"/>
          <p:cNvSpPr/>
          <p:nvPr/>
        </p:nvSpPr>
        <p:spPr>
          <a:xfrm>
            <a:off x="1851480" y="2871918"/>
            <a:ext cx="11494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번호판 탐지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4"/>
          <p:cNvSpPr/>
          <p:nvPr/>
        </p:nvSpPr>
        <p:spPr>
          <a:xfrm>
            <a:off x="187236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번호판 영역 검출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Right Arrow 15"/>
          <p:cNvSpPr/>
          <p:nvPr/>
        </p:nvSpPr>
        <p:spPr>
          <a:xfrm>
            <a:off x="3082780" y="2932963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ounded Rectangle 16"/>
          <p:cNvSpPr/>
          <p:nvPr/>
        </p:nvSpPr>
        <p:spPr>
          <a:xfrm>
            <a:off x="328924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Oval 17"/>
          <p:cNvSpPr/>
          <p:nvPr/>
        </p:nvSpPr>
        <p:spPr>
          <a:xfrm>
            <a:off x="3576960" y="1976760"/>
            <a:ext cx="534600" cy="534600"/>
          </a:xfrm>
          <a:prstGeom prst="ellipse">
            <a:avLst/>
          </a:prstGeom>
          <a:solidFill>
            <a:srgbClr val="12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TextBox 18"/>
          <p:cNvSpPr/>
          <p:nvPr/>
        </p:nvSpPr>
        <p:spPr>
          <a:xfrm>
            <a:off x="357696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CROP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9"/>
          <p:cNvSpPr/>
          <p:nvPr/>
        </p:nvSpPr>
        <p:spPr>
          <a:xfrm>
            <a:off x="3326940" y="2871918"/>
            <a:ext cx="103464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영역 </a:t>
            </a: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Crop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0"/>
          <p:cNvSpPr/>
          <p:nvPr/>
        </p:nvSpPr>
        <p:spPr>
          <a:xfrm>
            <a:off x="332712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번호판 영역 추출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Right Arrow 21"/>
          <p:cNvSpPr/>
          <p:nvPr/>
        </p:nvSpPr>
        <p:spPr>
          <a:xfrm>
            <a:off x="4536540" y="2919696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ounded Rectangle 22"/>
          <p:cNvSpPr/>
          <p:nvPr/>
        </p:nvSpPr>
        <p:spPr>
          <a:xfrm>
            <a:off x="472392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Oval 23"/>
          <p:cNvSpPr/>
          <p:nvPr/>
        </p:nvSpPr>
        <p:spPr>
          <a:xfrm>
            <a:off x="5032080" y="1976760"/>
            <a:ext cx="534600" cy="534600"/>
          </a:xfrm>
          <a:prstGeom prst="ellipse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24"/>
          <p:cNvSpPr/>
          <p:nvPr/>
        </p:nvSpPr>
        <p:spPr>
          <a:xfrm>
            <a:off x="503208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OCR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25"/>
          <p:cNvSpPr/>
          <p:nvPr/>
        </p:nvSpPr>
        <p:spPr>
          <a:xfrm>
            <a:off x="4816440" y="2871919"/>
            <a:ext cx="10000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OCR </a:t>
            </a:r>
            <a:r>
              <a:rPr lang="zh-CN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인식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26"/>
          <p:cNvSpPr/>
          <p:nvPr/>
        </p:nvSpPr>
        <p:spPr>
          <a:xfrm>
            <a:off x="478188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텍스트 인식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Right Arrow 27"/>
          <p:cNvSpPr/>
          <p:nvPr/>
        </p:nvSpPr>
        <p:spPr>
          <a:xfrm>
            <a:off x="5947380" y="2958533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ounded Rectangle 28"/>
          <p:cNvSpPr/>
          <p:nvPr/>
        </p:nvSpPr>
        <p:spPr>
          <a:xfrm>
            <a:off x="615384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Oval 29"/>
          <p:cNvSpPr/>
          <p:nvPr/>
        </p:nvSpPr>
        <p:spPr>
          <a:xfrm>
            <a:off x="6486840" y="1976760"/>
            <a:ext cx="534600" cy="534600"/>
          </a:xfrm>
          <a:prstGeom prst="ellipse">
            <a:avLst/>
          </a:prstGeom>
          <a:solidFill>
            <a:srgbClr val="C7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30"/>
          <p:cNvSpPr/>
          <p:nvPr/>
        </p:nvSpPr>
        <p:spPr>
          <a:xfrm>
            <a:off x="648684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TXT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31"/>
          <p:cNvSpPr/>
          <p:nvPr/>
        </p:nvSpPr>
        <p:spPr>
          <a:xfrm>
            <a:off x="6179040" y="2871918"/>
            <a:ext cx="11397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텍스트 정제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32"/>
          <p:cNvSpPr/>
          <p:nvPr/>
        </p:nvSpPr>
        <p:spPr>
          <a:xfrm>
            <a:off x="623664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오인식 보정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ight Arrow 33"/>
          <p:cNvSpPr/>
          <p:nvPr/>
        </p:nvSpPr>
        <p:spPr>
          <a:xfrm>
            <a:off x="7406550" y="2932963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Rounded Rectangle 34"/>
          <p:cNvSpPr/>
          <p:nvPr/>
        </p:nvSpPr>
        <p:spPr>
          <a:xfrm>
            <a:off x="763398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Oval 35"/>
          <p:cNvSpPr/>
          <p:nvPr/>
        </p:nvSpPr>
        <p:spPr>
          <a:xfrm>
            <a:off x="7941600" y="1976760"/>
            <a:ext cx="534600" cy="534600"/>
          </a:xfrm>
          <a:prstGeom prst="ellipse">
            <a:avLst/>
          </a:prstGeom>
          <a:solidFill>
            <a:srgbClr val="2E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36"/>
          <p:cNvSpPr/>
          <p:nvPr/>
        </p:nvSpPr>
        <p:spPr>
          <a:xfrm>
            <a:off x="794160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DB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37"/>
          <p:cNvSpPr/>
          <p:nvPr/>
        </p:nvSpPr>
        <p:spPr>
          <a:xfrm>
            <a:off x="7725960" y="2854080"/>
            <a:ext cx="96552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DB </a:t>
            </a:r>
            <a:r>
              <a:rPr lang="zh-CN" sz="14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저장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38"/>
          <p:cNvSpPr/>
          <p:nvPr/>
        </p:nvSpPr>
        <p:spPr>
          <a:xfrm>
            <a:off x="769140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결과 저장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ectangle 2"/>
          <p:cNvSpPr/>
          <p:nvPr/>
        </p:nvSpPr>
        <p:spPr>
          <a:xfrm>
            <a:off x="0" y="5079600"/>
            <a:ext cx="9143640" cy="6372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3"/>
          <p:cNvSpPr/>
          <p:nvPr/>
        </p:nvSpPr>
        <p:spPr>
          <a:xfrm>
            <a:off x="548640" y="320040"/>
            <a:ext cx="6999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영상 처리 과정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4"/>
          <p:cNvSpPr/>
          <p:nvPr/>
        </p:nvSpPr>
        <p:spPr>
          <a:xfrm>
            <a:off x="33444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Oval 5"/>
          <p:cNvSpPr/>
          <p:nvPr/>
        </p:nvSpPr>
        <p:spPr>
          <a:xfrm>
            <a:off x="667440" y="1976760"/>
            <a:ext cx="534600" cy="534600"/>
          </a:xfrm>
          <a:prstGeom prst="ellipse">
            <a:avLst/>
          </a:prstGeom>
          <a:solidFill>
            <a:srgbClr val="2E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6"/>
          <p:cNvSpPr/>
          <p:nvPr/>
        </p:nvSpPr>
        <p:spPr>
          <a:xfrm>
            <a:off x="66744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IN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7"/>
          <p:cNvSpPr/>
          <p:nvPr/>
        </p:nvSpPr>
        <p:spPr>
          <a:xfrm>
            <a:off x="452160" y="2854080"/>
            <a:ext cx="96552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영상 입력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8"/>
          <p:cNvSpPr/>
          <p:nvPr/>
        </p:nvSpPr>
        <p:spPr>
          <a:xfrm>
            <a:off x="41760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프레임 수신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Right Arrow 9"/>
          <p:cNvSpPr/>
          <p:nvPr/>
        </p:nvSpPr>
        <p:spPr>
          <a:xfrm>
            <a:off x="1598100" y="2950199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ounded Rectangle 10"/>
          <p:cNvSpPr/>
          <p:nvPr/>
        </p:nvSpPr>
        <p:spPr>
          <a:xfrm>
            <a:off x="185148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Oval 11"/>
          <p:cNvSpPr/>
          <p:nvPr/>
        </p:nvSpPr>
        <p:spPr>
          <a:xfrm>
            <a:off x="2122200" y="1976760"/>
            <a:ext cx="534600" cy="534600"/>
          </a:xfrm>
          <a:prstGeom prst="ellipse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12"/>
          <p:cNvSpPr/>
          <p:nvPr/>
        </p:nvSpPr>
        <p:spPr>
          <a:xfrm>
            <a:off x="212220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YOLO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3"/>
          <p:cNvSpPr/>
          <p:nvPr/>
        </p:nvSpPr>
        <p:spPr>
          <a:xfrm>
            <a:off x="1851480" y="2871918"/>
            <a:ext cx="11494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차량 탐지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4"/>
          <p:cNvSpPr/>
          <p:nvPr/>
        </p:nvSpPr>
        <p:spPr>
          <a:xfrm>
            <a:off x="187236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bbox </a:t>
            </a: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검출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Right Arrow 15"/>
          <p:cNvSpPr/>
          <p:nvPr/>
        </p:nvSpPr>
        <p:spPr>
          <a:xfrm>
            <a:off x="3068345" y="2962440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Rounded Rectangle 16"/>
          <p:cNvSpPr/>
          <p:nvPr/>
        </p:nvSpPr>
        <p:spPr>
          <a:xfrm>
            <a:off x="328924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Oval 17"/>
          <p:cNvSpPr/>
          <p:nvPr/>
        </p:nvSpPr>
        <p:spPr>
          <a:xfrm>
            <a:off x="3576960" y="1976760"/>
            <a:ext cx="534600" cy="534600"/>
          </a:xfrm>
          <a:prstGeom prst="ellipse">
            <a:avLst/>
          </a:prstGeom>
          <a:solidFill>
            <a:srgbClr val="12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18"/>
          <p:cNvSpPr/>
          <p:nvPr/>
        </p:nvSpPr>
        <p:spPr>
          <a:xfrm>
            <a:off x="357696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TRK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9"/>
          <p:cNvSpPr/>
          <p:nvPr/>
        </p:nvSpPr>
        <p:spPr>
          <a:xfrm>
            <a:off x="3269700" y="2871918"/>
            <a:ext cx="11491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이벤트 추적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20"/>
          <p:cNvSpPr/>
          <p:nvPr/>
        </p:nvSpPr>
        <p:spPr>
          <a:xfrm>
            <a:off x="332712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동일 차량 추적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Right Arrow 21"/>
          <p:cNvSpPr/>
          <p:nvPr/>
        </p:nvSpPr>
        <p:spPr>
          <a:xfrm>
            <a:off x="4545720" y="2962440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ounded Rectangle 22"/>
          <p:cNvSpPr/>
          <p:nvPr/>
        </p:nvSpPr>
        <p:spPr>
          <a:xfrm>
            <a:off x="472392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Oval 23"/>
          <p:cNvSpPr/>
          <p:nvPr/>
        </p:nvSpPr>
        <p:spPr>
          <a:xfrm>
            <a:off x="5032080" y="1976760"/>
            <a:ext cx="534600" cy="534600"/>
          </a:xfrm>
          <a:prstGeom prst="ellipse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24"/>
          <p:cNvSpPr/>
          <p:nvPr/>
        </p:nvSpPr>
        <p:spPr>
          <a:xfrm>
            <a:off x="503208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BEST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25"/>
          <p:cNvSpPr/>
          <p:nvPr/>
        </p:nvSpPr>
        <p:spPr>
          <a:xfrm>
            <a:off x="4473660" y="2871919"/>
            <a:ext cx="165000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45000" rIns="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sz="1400" b="1">
                <a:solidFill>
                  <a:srgbClr val="000000"/>
                </a:solidFill>
                <a:latin typeface="Malgun Gothic"/>
              </a:rPr>
              <a:t>Best Frame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6"/>
          <p:cNvSpPr/>
          <p:nvPr/>
        </p:nvSpPr>
        <p:spPr>
          <a:xfrm>
            <a:off x="478134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sz="1100">
                <a:solidFill>
                  <a:srgbClr val="000000"/>
                </a:solidFill>
                <a:latin typeface="Malgun Gothic"/>
              </a:rPr>
              <a:t>후보 프레임 선택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Right Arrow 27"/>
          <p:cNvSpPr/>
          <p:nvPr/>
        </p:nvSpPr>
        <p:spPr>
          <a:xfrm>
            <a:off x="5943780" y="2962440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Rounded Rectangle 28"/>
          <p:cNvSpPr/>
          <p:nvPr/>
        </p:nvSpPr>
        <p:spPr>
          <a:xfrm>
            <a:off x="615384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Oval 29"/>
          <p:cNvSpPr/>
          <p:nvPr/>
        </p:nvSpPr>
        <p:spPr>
          <a:xfrm>
            <a:off x="6486840" y="1976760"/>
            <a:ext cx="534600" cy="534600"/>
          </a:xfrm>
          <a:prstGeom prst="ellipse">
            <a:avLst/>
          </a:prstGeom>
          <a:solidFill>
            <a:srgbClr val="C7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30"/>
          <p:cNvSpPr/>
          <p:nvPr/>
        </p:nvSpPr>
        <p:spPr>
          <a:xfrm>
            <a:off x="648684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OCR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31"/>
          <p:cNvSpPr/>
          <p:nvPr/>
        </p:nvSpPr>
        <p:spPr>
          <a:xfrm>
            <a:off x="6179040" y="2871918"/>
            <a:ext cx="11397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번호판 인식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32"/>
          <p:cNvSpPr/>
          <p:nvPr/>
        </p:nvSpPr>
        <p:spPr>
          <a:xfrm>
            <a:off x="6184080" y="3303720"/>
            <a:ext cx="113976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30" b="0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YOLO + </a:t>
            </a:r>
            <a:r>
              <a:rPr lang="en-US" sz="830" b="0" u="none" strike="noStrike" dirty="0" err="1">
                <a:solidFill>
                  <a:srgbClr val="000000"/>
                </a:solidFill>
                <a:effectLst/>
                <a:uFillTx/>
                <a:latin typeface="Malgun Gothic"/>
              </a:rPr>
              <a:t>PaddleOCR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Right Arrow 33"/>
          <p:cNvSpPr/>
          <p:nvPr/>
        </p:nvSpPr>
        <p:spPr>
          <a:xfrm>
            <a:off x="7384208" y="2950199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Rounded Rectangle 34"/>
          <p:cNvSpPr/>
          <p:nvPr/>
        </p:nvSpPr>
        <p:spPr>
          <a:xfrm>
            <a:off x="763398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Oval 35"/>
          <p:cNvSpPr/>
          <p:nvPr/>
        </p:nvSpPr>
        <p:spPr>
          <a:xfrm>
            <a:off x="7941600" y="1976760"/>
            <a:ext cx="534600" cy="534600"/>
          </a:xfrm>
          <a:prstGeom prst="ellipse">
            <a:avLst/>
          </a:prstGeom>
          <a:solidFill>
            <a:srgbClr val="2E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36"/>
          <p:cNvSpPr/>
          <p:nvPr/>
        </p:nvSpPr>
        <p:spPr>
          <a:xfrm>
            <a:off x="794160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SEND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37"/>
          <p:cNvSpPr/>
          <p:nvPr/>
        </p:nvSpPr>
        <p:spPr>
          <a:xfrm>
            <a:off x="7725960" y="2854080"/>
            <a:ext cx="96552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결과 전송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38"/>
          <p:cNvSpPr/>
          <p:nvPr/>
        </p:nvSpPr>
        <p:spPr>
          <a:xfrm>
            <a:off x="769140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Spring Boot </a:t>
            </a: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전달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Rectangle 2"/>
          <p:cNvSpPr/>
          <p:nvPr/>
        </p:nvSpPr>
        <p:spPr>
          <a:xfrm>
            <a:off x="0" y="5079600"/>
            <a:ext cx="9143640" cy="6372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3"/>
          <p:cNvSpPr/>
          <p:nvPr/>
        </p:nvSpPr>
        <p:spPr>
          <a:xfrm>
            <a:off x="548640" y="320040"/>
            <a:ext cx="6999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중복 감지 및 저장 처리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Rounded Rectangle 4"/>
          <p:cNvSpPr/>
          <p:nvPr/>
        </p:nvSpPr>
        <p:spPr>
          <a:xfrm>
            <a:off x="360000" y="1730160"/>
            <a:ext cx="2099520" cy="21996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Oval 5"/>
          <p:cNvSpPr/>
          <p:nvPr/>
        </p:nvSpPr>
        <p:spPr>
          <a:xfrm>
            <a:off x="1135080" y="1994040"/>
            <a:ext cx="549720" cy="549720"/>
          </a:xfrm>
          <a:prstGeom prst="ellipse">
            <a:avLst/>
          </a:prstGeom>
          <a:solidFill>
            <a:srgbClr val="2E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6"/>
          <p:cNvSpPr/>
          <p:nvPr/>
        </p:nvSpPr>
        <p:spPr>
          <a:xfrm>
            <a:off x="1135080" y="2136960"/>
            <a:ext cx="5497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OCR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7"/>
          <p:cNvSpPr/>
          <p:nvPr/>
        </p:nvSpPr>
        <p:spPr>
          <a:xfrm>
            <a:off x="528120" y="2895840"/>
            <a:ext cx="1763640" cy="35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OCR </a:t>
            </a:r>
            <a:r>
              <a:rPr lang="zh-CN" sz="14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결과 생성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8"/>
          <p:cNvSpPr/>
          <p:nvPr/>
        </p:nvSpPr>
        <p:spPr>
          <a:xfrm>
            <a:off x="465120" y="3358080"/>
            <a:ext cx="1889640" cy="30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번호판 인식 결과 확인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Right Arrow 9"/>
          <p:cNvSpPr/>
          <p:nvPr/>
        </p:nvSpPr>
        <p:spPr>
          <a:xfrm>
            <a:off x="2900880" y="2739960"/>
            <a:ext cx="1796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Rounded Rectangle 10"/>
          <p:cNvSpPr/>
          <p:nvPr/>
        </p:nvSpPr>
        <p:spPr>
          <a:xfrm>
            <a:off x="3521880" y="1730160"/>
            <a:ext cx="2099520" cy="21996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Oval 11"/>
          <p:cNvSpPr/>
          <p:nvPr/>
        </p:nvSpPr>
        <p:spPr>
          <a:xfrm>
            <a:off x="4296960" y="1994040"/>
            <a:ext cx="549720" cy="549720"/>
          </a:xfrm>
          <a:prstGeom prst="ellipse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TextBox 12"/>
          <p:cNvSpPr/>
          <p:nvPr/>
        </p:nvSpPr>
        <p:spPr>
          <a:xfrm>
            <a:off x="4296960" y="2136960"/>
            <a:ext cx="5497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CHECK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13"/>
          <p:cNvSpPr/>
          <p:nvPr/>
        </p:nvSpPr>
        <p:spPr>
          <a:xfrm>
            <a:off x="3690000" y="2895840"/>
            <a:ext cx="1763640" cy="35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중복 여부 판단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4"/>
          <p:cNvSpPr/>
          <p:nvPr/>
        </p:nvSpPr>
        <p:spPr>
          <a:xfrm>
            <a:off x="3627000" y="3358080"/>
            <a:ext cx="1889640" cy="30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동일 번호판 재등장 확인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Right Arrow 15"/>
          <p:cNvSpPr/>
          <p:nvPr/>
        </p:nvSpPr>
        <p:spPr>
          <a:xfrm>
            <a:off x="6063120" y="2739960"/>
            <a:ext cx="179640" cy="1796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Rounded Rectangle 16"/>
          <p:cNvSpPr/>
          <p:nvPr/>
        </p:nvSpPr>
        <p:spPr>
          <a:xfrm>
            <a:off x="6684120" y="1730160"/>
            <a:ext cx="2099520" cy="21996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Oval 17"/>
          <p:cNvSpPr/>
          <p:nvPr/>
        </p:nvSpPr>
        <p:spPr>
          <a:xfrm>
            <a:off x="7458840" y="1994040"/>
            <a:ext cx="549720" cy="549720"/>
          </a:xfrm>
          <a:prstGeom prst="ellipse">
            <a:avLst/>
          </a:prstGeom>
          <a:solidFill>
            <a:srgbClr val="12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18"/>
          <p:cNvSpPr/>
          <p:nvPr/>
        </p:nvSpPr>
        <p:spPr>
          <a:xfrm>
            <a:off x="7458840" y="2136960"/>
            <a:ext cx="5497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SAVE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9"/>
          <p:cNvSpPr/>
          <p:nvPr/>
        </p:nvSpPr>
        <p:spPr>
          <a:xfrm>
            <a:off x="6851880" y="2895840"/>
            <a:ext cx="1763640" cy="35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저장 상태 처리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20"/>
          <p:cNvSpPr/>
          <p:nvPr/>
        </p:nvSpPr>
        <p:spPr>
          <a:xfrm>
            <a:off x="6788880" y="3358080"/>
            <a:ext cx="1889640" cy="30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신규 저장 </a:t>
            </a:r>
            <a:r>
              <a:rPr lang="en-US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/ </a:t>
            </a: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중복 제외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Rectangle 1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Rectangle 2"/>
          <p:cNvSpPr/>
          <p:nvPr/>
        </p:nvSpPr>
        <p:spPr>
          <a:xfrm>
            <a:off x="0" y="5079600"/>
            <a:ext cx="9143640" cy="6372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3"/>
          <p:cNvSpPr/>
          <p:nvPr/>
        </p:nvSpPr>
        <p:spPr>
          <a:xfrm>
            <a:off x="548640" y="320040"/>
            <a:ext cx="6999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속도 산출 과정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Rounded Rectangle 4"/>
          <p:cNvSpPr/>
          <p:nvPr/>
        </p:nvSpPr>
        <p:spPr>
          <a:xfrm>
            <a:off x="33444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Oval 5"/>
          <p:cNvSpPr/>
          <p:nvPr/>
        </p:nvSpPr>
        <p:spPr>
          <a:xfrm>
            <a:off x="667440" y="1976760"/>
            <a:ext cx="534600" cy="534600"/>
          </a:xfrm>
          <a:prstGeom prst="ellipse">
            <a:avLst/>
          </a:prstGeom>
          <a:solidFill>
            <a:srgbClr val="2E7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6"/>
          <p:cNvSpPr/>
          <p:nvPr/>
        </p:nvSpPr>
        <p:spPr>
          <a:xfrm>
            <a:off x="66744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BBOX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7"/>
          <p:cNvSpPr/>
          <p:nvPr/>
        </p:nvSpPr>
        <p:spPr>
          <a:xfrm>
            <a:off x="365040" y="2854080"/>
            <a:ext cx="113976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하단 중앙점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8"/>
          <p:cNvSpPr/>
          <p:nvPr/>
        </p:nvSpPr>
        <p:spPr>
          <a:xfrm>
            <a:off x="41760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bbox </a:t>
            </a: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위치 추적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Right Arrow 9"/>
          <p:cNvSpPr/>
          <p:nvPr/>
        </p:nvSpPr>
        <p:spPr>
          <a:xfrm>
            <a:off x="1623110" y="2950199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Rounded Rectangle 10"/>
          <p:cNvSpPr/>
          <p:nvPr/>
        </p:nvSpPr>
        <p:spPr>
          <a:xfrm>
            <a:off x="185148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Oval 11"/>
          <p:cNvSpPr/>
          <p:nvPr/>
        </p:nvSpPr>
        <p:spPr>
          <a:xfrm>
            <a:off x="2122200" y="1976760"/>
            <a:ext cx="534600" cy="534600"/>
          </a:xfrm>
          <a:prstGeom prst="ellipse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12"/>
          <p:cNvSpPr/>
          <p:nvPr/>
        </p:nvSpPr>
        <p:spPr>
          <a:xfrm>
            <a:off x="212220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DIST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13"/>
          <p:cNvSpPr/>
          <p:nvPr/>
        </p:nvSpPr>
        <p:spPr>
          <a:xfrm>
            <a:off x="1851480" y="2871918"/>
            <a:ext cx="11494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이동거리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14"/>
          <p:cNvSpPr/>
          <p:nvPr/>
        </p:nvSpPr>
        <p:spPr>
          <a:xfrm>
            <a:off x="187236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위치 변화 계산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Right Arrow 15"/>
          <p:cNvSpPr/>
          <p:nvPr/>
        </p:nvSpPr>
        <p:spPr>
          <a:xfrm>
            <a:off x="3072420" y="2950199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Rounded Rectangle 16"/>
          <p:cNvSpPr/>
          <p:nvPr/>
        </p:nvSpPr>
        <p:spPr>
          <a:xfrm>
            <a:off x="328924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Oval 17"/>
          <p:cNvSpPr/>
          <p:nvPr/>
        </p:nvSpPr>
        <p:spPr>
          <a:xfrm>
            <a:off x="3576960" y="1976760"/>
            <a:ext cx="534600" cy="534600"/>
          </a:xfrm>
          <a:prstGeom prst="ellipse">
            <a:avLst/>
          </a:prstGeom>
          <a:solidFill>
            <a:srgbClr val="129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18"/>
          <p:cNvSpPr/>
          <p:nvPr/>
        </p:nvSpPr>
        <p:spPr>
          <a:xfrm>
            <a:off x="357696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TIME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19"/>
          <p:cNvSpPr/>
          <p:nvPr/>
        </p:nvSpPr>
        <p:spPr>
          <a:xfrm>
            <a:off x="3326940" y="2871918"/>
            <a:ext cx="103464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시간 차이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20"/>
          <p:cNvSpPr/>
          <p:nvPr/>
        </p:nvSpPr>
        <p:spPr>
          <a:xfrm>
            <a:off x="3289240" y="3343997"/>
            <a:ext cx="1187360" cy="2186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프레임 간 시간 계산</a:t>
            </a:r>
            <a:endParaRPr lang="en-US" sz="83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Right Arrow 21"/>
          <p:cNvSpPr/>
          <p:nvPr/>
        </p:nvSpPr>
        <p:spPr>
          <a:xfrm>
            <a:off x="4502160" y="2950199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Rounded Rectangle 22"/>
          <p:cNvSpPr/>
          <p:nvPr/>
        </p:nvSpPr>
        <p:spPr>
          <a:xfrm>
            <a:off x="472392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Oval 23"/>
          <p:cNvSpPr/>
          <p:nvPr/>
        </p:nvSpPr>
        <p:spPr>
          <a:xfrm>
            <a:off x="5032080" y="1976760"/>
            <a:ext cx="534600" cy="534600"/>
          </a:xfrm>
          <a:prstGeom prst="ellipse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24"/>
          <p:cNvSpPr/>
          <p:nvPr/>
        </p:nvSpPr>
        <p:spPr>
          <a:xfrm>
            <a:off x="4991402" y="2116080"/>
            <a:ext cx="615956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KM/H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25"/>
          <p:cNvSpPr/>
          <p:nvPr/>
        </p:nvSpPr>
        <p:spPr>
          <a:xfrm>
            <a:off x="4816440" y="2871919"/>
            <a:ext cx="100008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속도 환산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26"/>
          <p:cNvSpPr/>
          <p:nvPr/>
        </p:nvSpPr>
        <p:spPr>
          <a:xfrm>
            <a:off x="478188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km/h </a:t>
            </a: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단위 변환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Right Arrow 27"/>
          <p:cNvSpPr/>
          <p:nvPr/>
        </p:nvSpPr>
        <p:spPr>
          <a:xfrm>
            <a:off x="5949720" y="2950199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Rounded Rectangle 28"/>
          <p:cNvSpPr/>
          <p:nvPr/>
        </p:nvSpPr>
        <p:spPr>
          <a:xfrm>
            <a:off x="615384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Oval 29"/>
          <p:cNvSpPr/>
          <p:nvPr/>
        </p:nvSpPr>
        <p:spPr>
          <a:xfrm>
            <a:off x="6486840" y="1976760"/>
            <a:ext cx="534600" cy="534600"/>
          </a:xfrm>
          <a:prstGeom prst="ellipse">
            <a:avLst/>
          </a:prstGeom>
          <a:solidFill>
            <a:srgbClr val="C72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30"/>
          <p:cNvSpPr/>
          <p:nvPr/>
        </p:nvSpPr>
        <p:spPr>
          <a:xfrm>
            <a:off x="6486840" y="2116080"/>
            <a:ext cx="5346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MED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31"/>
          <p:cNvSpPr/>
          <p:nvPr/>
        </p:nvSpPr>
        <p:spPr>
          <a:xfrm>
            <a:off x="6174360" y="2871918"/>
            <a:ext cx="11491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중앙값 보정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32"/>
          <p:cNvSpPr/>
          <p:nvPr/>
        </p:nvSpPr>
        <p:spPr>
          <a:xfrm>
            <a:off x="623664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튀는 값 완화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Right Arrow 33"/>
          <p:cNvSpPr/>
          <p:nvPr/>
        </p:nvSpPr>
        <p:spPr>
          <a:xfrm>
            <a:off x="7419758" y="2950199"/>
            <a:ext cx="139680" cy="149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9880" rIns="90000" bIns="298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Rounded Rectangle 34"/>
          <p:cNvSpPr/>
          <p:nvPr/>
        </p:nvSpPr>
        <p:spPr>
          <a:xfrm>
            <a:off x="7633980" y="1651500"/>
            <a:ext cx="1149480" cy="2599200"/>
          </a:xfrm>
          <a:prstGeom prst="roundRect">
            <a:avLst>
              <a:gd name="adj" fmla="val 16667"/>
            </a:avLst>
          </a:prstGeom>
          <a:solidFill>
            <a:srgbClr val="F8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Oval 35"/>
          <p:cNvSpPr/>
          <p:nvPr/>
        </p:nvSpPr>
        <p:spPr>
          <a:xfrm>
            <a:off x="7941600" y="1976760"/>
            <a:ext cx="534600" cy="534600"/>
          </a:xfrm>
          <a:prstGeom prst="ellipse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36"/>
          <p:cNvSpPr/>
          <p:nvPr/>
        </p:nvSpPr>
        <p:spPr>
          <a:xfrm>
            <a:off x="7900200" y="2116080"/>
            <a:ext cx="617400" cy="2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FFFFFF"/>
                </a:solidFill>
                <a:effectLst/>
                <a:uFillTx/>
                <a:latin typeface="Malgun Gothic"/>
              </a:rPr>
              <a:t>CHECK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37"/>
          <p:cNvSpPr/>
          <p:nvPr/>
        </p:nvSpPr>
        <p:spPr>
          <a:xfrm>
            <a:off x="7499700" y="2854080"/>
            <a:ext cx="1418040" cy="34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400" b="1" u="none" strike="noStrike" dirty="0">
                <a:solidFill>
                  <a:srgbClr val="000000"/>
                </a:solidFill>
                <a:effectLst/>
                <a:uFillTx/>
                <a:latin typeface="Malgun Gothic"/>
              </a:rPr>
              <a:t>과속 판단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38"/>
          <p:cNvSpPr/>
          <p:nvPr/>
        </p:nvSpPr>
        <p:spPr>
          <a:xfrm>
            <a:off x="7691400" y="3303720"/>
            <a:ext cx="103464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830" b="0" u="none" strike="noStrike">
                <a:solidFill>
                  <a:srgbClr val="000000"/>
                </a:solidFill>
                <a:effectLst/>
                <a:uFillTx/>
                <a:latin typeface="Malgun Gothic"/>
              </a:rPr>
              <a:t>제한속도 비교</a:t>
            </a:r>
            <a:endParaRPr lang="en-US" sz="8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Rectangle 2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Rectangle 3"/>
          <p:cNvSpPr/>
          <p:nvPr/>
        </p:nvSpPr>
        <p:spPr>
          <a:xfrm>
            <a:off x="0" y="5093280"/>
            <a:ext cx="9143640" cy="5436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4"/>
          <p:cNvSpPr/>
          <p:nvPr/>
        </p:nvSpPr>
        <p:spPr>
          <a:xfrm>
            <a:off x="566280" y="245520"/>
            <a:ext cx="448344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OCR </a:t>
            </a: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및 속도 분석 결과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5"/>
          <p:cNvSpPr/>
          <p:nvPr/>
        </p:nvSpPr>
        <p:spPr>
          <a:xfrm>
            <a:off x="1503991" y="894240"/>
            <a:ext cx="1961092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1800" b="1" u="none" strike="noStrike" dirty="0">
                <a:solidFill>
                  <a:srgbClr val="E2A00A"/>
                </a:solidFill>
                <a:effectLst/>
                <a:uFillTx/>
                <a:latin typeface="Malgun Gothic"/>
              </a:rPr>
              <a:t>정상 </a:t>
            </a:r>
            <a:r>
              <a:rPr lang="ko-KR" altLang="en-US" b="1" dirty="0">
                <a:solidFill>
                  <a:srgbClr val="E2A00A"/>
                </a:solidFill>
                <a:latin typeface="Malgun Gothic"/>
              </a:rPr>
              <a:t>주행</a:t>
            </a:r>
            <a:r>
              <a:rPr lang="zh-CN" sz="1800" b="1" u="none" strike="noStrike" dirty="0">
                <a:solidFill>
                  <a:srgbClr val="E2A00A"/>
                </a:solidFill>
                <a:effectLst/>
                <a:uFillTx/>
                <a:latin typeface="Malgun Gothic"/>
              </a:rPr>
              <a:t> 이미지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6"/>
          <p:cNvSpPr/>
          <p:nvPr/>
        </p:nvSpPr>
        <p:spPr>
          <a:xfrm>
            <a:off x="5560833" y="894240"/>
            <a:ext cx="1961092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ko-KR" altLang="en-US" b="1" dirty="0">
                <a:solidFill>
                  <a:srgbClr val="E2A00A"/>
                </a:solidFill>
                <a:latin typeface="Malgun Gothic"/>
              </a:rPr>
              <a:t>과속</a:t>
            </a:r>
            <a:r>
              <a:rPr lang="zh-CN" sz="1800" b="1" u="none" strike="noStrike" dirty="0">
                <a:solidFill>
                  <a:srgbClr val="E2A00A"/>
                </a:solidFill>
                <a:effectLst/>
                <a:uFillTx/>
                <a:latin typeface="Malgun Gothic"/>
              </a:rPr>
              <a:t> 감지 이미지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9"/>
          <p:cNvSpPr/>
          <p:nvPr/>
        </p:nvSpPr>
        <p:spPr>
          <a:xfrm>
            <a:off x="564480" y="1273320"/>
            <a:ext cx="714600" cy="429480"/>
          </a:xfrm>
          <a:prstGeom prst="rect">
            <a:avLst/>
          </a:prstGeom>
          <a:noFill/>
          <a:ln w="222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Rectangle 10"/>
          <p:cNvSpPr/>
          <p:nvPr/>
        </p:nvSpPr>
        <p:spPr>
          <a:xfrm>
            <a:off x="4734720" y="1273320"/>
            <a:ext cx="1058400" cy="448920"/>
          </a:xfrm>
          <a:prstGeom prst="rect">
            <a:avLst/>
          </a:prstGeom>
          <a:noFill/>
          <a:ln w="222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Rounded Rectangle 11"/>
          <p:cNvSpPr/>
          <p:nvPr/>
        </p:nvSpPr>
        <p:spPr>
          <a:xfrm>
            <a:off x="564480" y="4140000"/>
            <a:ext cx="3840120" cy="610000"/>
          </a:xfrm>
          <a:prstGeom prst="roundRect">
            <a:avLst>
              <a:gd name="adj" fmla="val 14000"/>
            </a:avLst>
          </a:prstGeom>
          <a:solidFill>
            <a:srgbClr val="1C1C1C"/>
          </a:solidFill>
          <a:ln w="28575">
            <a:solidFill>
              <a:srgbClr val="EAB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01520" rIns="152280" bIns="10152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sz="1800" b="1" dirty="0" err="1">
                <a:latin typeface="Malgun Gothic"/>
              </a:rPr>
              <a:t>번호판</a:t>
            </a:r>
            <a:r>
              <a:rPr sz="1800" b="1" dirty="0">
                <a:latin typeface="Malgun Gothic"/>
              </a:rPr>
              <a:t>  282두9472</a:t>
            </a:r>
            <a:endParaRPr lang="en-US" sz="1300" b="0" u="none" strike="noStrike" dirty="0">
              <a:effectLst/>
              <a:uFillTx/>
              <a:latin typeface="Arial"/>
            </a:endParaRPr>
          </a:p>
          <a:p>
            <a:pPr algn="ctr">
              <a:spcAft>
                <a:spcPts val="400"/>
              </a:spcAft>
            </a:pPr>
            <a:r>
              <a:rPr sz="1800" b="1" dirty="0" err="1">
                <a:latin typeface="Malgun Gothic"/>
              </a:rPr>
              <a:t>속도</a:t>
            </a:r>
            <a:r>
              <a:rPr sz="1800" b="1" dirty="0">
                <a:latin typeface="Malgun Gothic"/>
              </a:rPr>
              <a:t>  46.6 km/h</a:t>
            </a:r>
          </a:p>
        </p:txBody>
      </p:sp>
      <p:sp>
        <p:nvSpPr>
          <p:cNvPr id="358" name="Rounded Rectangle 12"/>
          <p:cNvSpPr/>
          <p:nvPr/>
        </p:nvSpPr>
        <p:spPr>
          <a:xfrm>
            <a:off x="4709160" y="4140000"/>
            <a:ext cx="3840120" cy="610000"/>
          </a:xfrm>
          <a:prstGeom prst="roundRect">
            <a:avLst>
              <a:gd name="adj" fmla="val 14000"/>
            </a:avLst>
          </a:prstGeom>
          <a:solidFill>
            <a:srgbClr val="1C1C1C"/>
          </a:solidFill>
          <a:ln w="28575">
            <a:solidFill>
              <a:srgbClr val="EE4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2280" tIns="101520" rIns="152280" bIns="101520" anchor="ctr">
            <a:noAutofit/>
          </a:bodyPr>
          <a:lstStyle/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sz="1800" b="1" dirty="0" err="1">
                <a:latin typeface="Malgun Gothic"/>
              </a:rPr>
              <a:t>번호판</a:t>
            </a:r>
            <a:r>
              <a:rPr sz="1800" b="1" dirty="0">
                <a:latin typeface="Malgun Gothic"/>
              </a:rPr>
              <a:t>  67소2244</a:t>
            </a:r>
            <a:endParaRPr lang="en-US" sz="1300" b="0" u="none" strike="noStrike" dirty="0">
              <a:effectLst/>
              <a:uFillTx/>
              <a:latin typeface="Arial"/>
            </a:endParaRPr>
          </a:p>
          <a:p>
            <a:pPr algn="ctr">
              <a:spcAft>
                <a:spcPts val="400"/>
              </a:spcAft>
            </a:pPr>
            <a:r>
              <a:rPr sz="1800" b="1" dirty="0" err="1">
                <a:latin typeface="Malgun Gothic"/>
              </a:rPr>
              <a:t>속도</a:t>
            </a:r>
            <a:r>
              <a:rPr sz="1800" b="1" dirty="0">
                <a:latin typeface="Malgun Gothic"/>
              </a:rPr>
              <a:t>  </a:t>
            </a:r>
            <a:r>
              <a:rPr sz="1800" b="1" dirty="0" err="1">
                <a:latin typeface="Malgun Gothic"/>
              </a:rPr>
              <a:t>과속</a:t>
            </a:r>
            <a:r>
              <a:rPr sz="1800" b="1" dirty="0">
                <a:latin typeface="Malgun Gothic"/>
              </a:rPr>
              <a:t> 86.6 km/h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B2C842-BF7E-0854-7617-2263A9DB8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64" y="1263240"/>
            <a:ext cx="4185377" cy="271908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623F914-7E78-11C2-6F8A-29E9A36201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159" y="1263240"/>
            <a:ext cx="4185377" cy="2719080"/>
          </a:xfrm>
          <a:prstGeom prst="rect">
            <a:avLst/>
          </a:prstGeom>
        </p:spPr>
      </p:pic>
      <p:sp>
        <p:nvSpPr>
          <p:cNvPr id="359" name="Rectangle 358"/>
          <p:cNvSpPr/>
          <p:nvPr/>
        </p:nvSpPr>
        <p:spPr>
          <a:xfrm>
            <a:off x="249465" y="1420920"/>
            <a:ext cx="1447717" cy="508710"/>
          </a:xfrm>
          <a:prstGeom prst="rect">
            <a:avLst/>
          </a:prstGeom>
          <a:noFill/>
          <a:ln w="12700">
            <a:solidFill>
              <a:srgbClr val="E6A90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Rectangle 359"/>
          <p:cNvSpPr/>
          <p:nvPr/>
        </p:nvSpPr>
        <p:spPr>
          <a:xfrm>
            <a:off x="4710072" y="1390960"/>
            <a:ext cx="1579892" cy="538670"/>
          </a:xfrm>
          <a:prstGeom prst="rect">
            <a:avLst/>
          </a:prstGeom>
          <a:noFill/>
          <a:ln w="12700">
            <a:solidFill>
              <a:srgbClr val="FF454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1" name="Connector 360"/>
          <p:cNvCxnSpPr>
            <a:cxnSpLocks/>
          </p:cNvCxnSpPr>
          <p:nvPr/>
        </p:nvCxnSpPr>
        <p:spPr>
          <a:xfrm>
            <a:off x="745040" y="1944712"/>
            <a:ext cx="827451" cy="2195288"/>
          </a:xfrm>
          <a:prstGeom prst="line">
            <a:avLst/>
          </a:prstGeom>
          <a:ln w="12700">
            <a:solidFill>
              <a:srgbClr val="E6A900">
                <a:alpha val="88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2" name="Connector 361"/>
          <p:cNvCxnSpPr>
            <a:cxnSpLocks/>
          </p:cNvCxnSpPr>
          <p:nvPr/>
        </p:nvCxnSpPr>
        <p:spPr>
          <a:xfrm>
            <a:off x="5356078" y="1930752"/>
            <a:ext cx="437042" cy="2179288"/>
          </a:xfrm>
          <a:prstGeom prst="line">
            <a:avLst/>
          </a:prstGeom>
          <a:ln w="12700">
            <a:solidFill>
              <a:srgbClr val="FF4545">
                <a:alpha val="92000"/>
              </a:srgb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tangl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Rectangle 2"/>
          <p:cNvSpPr/>
          <p:nvPr/>
        </p:nvSpPr>
        <p:spPr>
          <a:xfrm>
            <a:off x="0" y="5088600"/>
            <a:ext cx="9143640" cy="5436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Box 3"/>
          <p:cNvSpPr/>
          <p:nvPr/>
        </p:nvSpPr>
        <p:spPr>
          <a:xfrm>
            <a:off x="548640" y="320040"/>
            <a:ext cx="6999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FastAPI Swagger </a:t>
            </a: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테스트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2" name="Picture 36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88280"/>
            <a:ext cx="5186562" cy="3563464"/>
          </a:xfrm>
          <a:prstGeom prst="rect">
            <a:avLst/>
          </a:prstGeom>
        </p:spPr>
      </p:pic>
      <p:sp>
        <p:nvSpPr>
          <p:cNvPr id="363" name="TextBox 362"/>
          <p:cNvSpPr txBox="1"/>
          <p:nvPr/>
        </p:nvSpPr>
        <p:spPr>
          <a:xfrm>
            <a:off x="5980000" y="1090000"/>
            <a:ext cx="2163049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 dirty="0" err="1">
                <a:solidFill>
                  <a:srgbClr val="E6A900"/>
                </a:solidFill>
                <a:latin typeface="Malgun Gothic"/>
              </a:rPr>
              <a:t>응답</a:t>
            </a:r>
            <a:r>
              <a:rPr sz="1700" b="1" dirty="0">
                <a:solidFill>
                  <a:srgbClr val="E6A900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E6A900"/>
                </a:solidFill>
                <a:latin typeface="Malgun Gothic"/>
              </a:rPr>
              <a:t>상태</a:t>
            </a:r>
            <a:endParaRPr b="1" dirty="0">
              <a:solidFill>
                <a:srgbClr val="E6A900"/>
              </a:solidFill>
              <a:latin typeface="Malgun Gothic"/>
            </a:endParaRPr>
          </a:p>
        </p:txBody>
      </p:sp>
      <p:sp>
        <p:nvSpPr>
          <p:cNvPr id="365" name="TextBox 364"/>
          <p:cNvSpPr txBox="1"/>
          <p:nvPr/>
        </p:nvSpPr>
        <p:spPr>
          <a:xfrm>
            <a:off x="5980000" y="2250000"/>
            <a:ext cx="2163049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 dirty="0" err="1">
                <a:solidFill>
                  <a:srgbClr val="E6A900"/>
                </a:solidFill>
                <a:latin typeface="Malgun Gothic"/>
              </a:rPr>
              <a:t>성공</a:t>
            </a:r>
            <a:r>
              <a:rPr sz="1700" b="1" dirty="0">
                <a:solidFill>
                  <a:srgbClr val="E6A900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E6A900"/>
                </a:solidFill>
                <a:latin typeface="Malgun Gothic"/>
              </a:rPr>
              <a:t>여부</a:t>
            </a:r>
            <a:endParaRPr b="1" dirty="0">
              <a:solidFill>
                <a:srgbClr val="E6A900"/>
              </a:solidFill>
              <a:latin typeface="Malgun Gothic"/>
            </a:endParaRPr>
          </a:p>
        </p:txBody>
      </p:sp>
      <p:sp>
        <p:nvSpPr>
          <p:cNvPr id="367" name="TextBox 366"/>
          <p:cNvSpPr txBox="1"/>
          <p:nvPr/>
        </p:nvSpPr>
        <p:spPr>
          <a:xfrm>
            <a:off x="5980000" y="3420000"/>
            <a:ext cx="2157356" cy="3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 dirty="0" err="1">
                <a:solidFill>
                  <a:srgbClr val="E6A900"/>
                </a:solidFill>
                <a:latin typeface="Malgun Gothic"/>
              </a:rPr>
              <a:t>처리</a:t>
            </a:r>
            <a:r>
              <a:rPr sz="1700" b="1" dirty="0">
                <a:solidFill>
                  <a:srgbClr val="E6A900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E6A900"/>
                </a:solidFill>
                <a:latin typeface="Malgun Gothic"/>
              </a:rPr>
              <a:t>상태</a:t>
            </a:r>
            <a:endParaRPr b="1" dirty="0">
              <a:solidFill>
                <a:srgbClr val="E6A900"/>
              </a:solidFill>
              <a:latin typeface="Malgun Gothic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7A1C24-6E48-63DF-8CCA-E896B20314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000" y="1474678"/>
            <a:ext cx="2163049" cy="6289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EAB68E-3811-88B9-6118-F8CB16B4A4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000" y="3862706"/>
            <a:ext cx="2157356" cy="49065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66D834A-1938-95BB-5985-BC17620246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000" y="2696418"/>
            <a:ext cx="2157356" cy="5808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Rectangle 1"/>
          <p:cNvSpPr/>
          <p:nvPr/>
        </p:nvSpPr>
        <p:spPr>
          <a:xfrm>
            <a:off x="0" y="0"/>
            <a:ext cx="9143640" cy="6840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Rectangle 2"/>
          <p:cNvSpPr/>
          <p:nvPr/>
        </p:nvSpPr>
        <p:spPr>
          <a:xfrm>
            <a:off x="0" y="5074920"/>
            <a:ext cx="9143640" cy="6840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3"/>
          <p:cNvSpPr/>
          <p:nvPr/>
        </p:nvSpPr>
        <p:spPr>
          <a:xfrm>
            <a:off x="548640" y="320040"/>
            <a:ext cx="6999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과속 위반 차량 관리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1" name="Picture 4" descr="과속.png"/>
          <p:cNvPicPr/>
          <p:nvPr/>
        </p:nvPicPr>
        <p:blipFill>
          <a:blip r:embed="rId2"/>
          <a:stretch/>
        </p:blipFill>
        <p:spPr>
          <a:xfrm>
            <a:off x="810360" y="1050120"/>
            <a:ext cx="7522920" cy="3799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Oval 1"/>
          <p:cNvSpPr/>
          <p:nvPr/>
        </p:nvSpPr>
        <p:spPr>
          <a:xfrm>
            <a:off x="2926080" y="822960"/>
            <a:ext cx="3291480" cy="3291480"/>
          </a:xfrm>
          <a:prstGeom prst="ellipse">
            <a:avLst/>
          </a:prstGeom>
          <a:solidFill>
            <a:srgbClr val="E6A817"/>
          </a:solidFill>
          <a:ln w="1524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2"/>
          <p:cNvSpPr/>
          <p:nvPr/>
        </p:nvSpPr>
        <p:spPr>
          <a:xfrm>
            <a:off x="2926080" y="822960"/>
            <a:ext cx="329148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zh-CN" sz="4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시연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Gold Line 4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Gold Line 5"/>
          <p:cNvSpPr/>
          <p:nvPr/>
        </p:nvSpPr>
        <p:spPr>
          <a:xfrm>
            <a:off x="0" y="5088600"/>
            <a:ext cx="9143640" cy="5436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ectangle 1"/>
          <p:cNvSpPr/>
          <p:nvPr/>
        </p:nvSpPr>
        <p:spPr>
          <a:xfrm>
            <a:off x="0" y="0"/>
            <a:ext cx="9143640" cy="6840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Rectangle 2"/>
          <p:cNvSpPr/>
          <p:nvPr/>
        </p:nvSpPr>
        <p:spPr>
          <a:xfrm>
            <a:off x="0" y="5074920"/>
            <a:ext cx="9143640" cy="6840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6"/>
          <p:cNvSpPr/>
          <p:nvPr/>
        </p:nvSpPr>
        <p:spPr>
          <a:xfrm>
            <a:off x="548640" y="320040"/>
            <a:ext cx="307678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ko-KR" altLang="en-US" sz="3200" b="1" dirty="0">
                <a:solidFill>
                  <a:srgbClr val="FFFFFF"/>
                </a:solidFill>
                <a:latin typeface="Malgun Gothic"/>
              </a:rPr>
              <a:t>교통 흐름 분석 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6" name="Picture 7" descr="screencapture-localhost-5174-admin-analytics-2026-05-27-16_22_55(1).png"/>
          <p:cNvPicPr/>
          <p:nvPr/>
        </p:nvPicPr>
        <p:blipFill>
          <a:blip r:embed="rId3"/>
          <a:stretch/>
        </p:blipFill>
        <p:spPr>
          <a:xfrm>
            <a:off x="511200" y="956160"/>
            <a:ext cx="7796520" cy="38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Rounded Rectangle 8"/>
          <p:cNvSpPr/>
          <p:nvPr/>
        </p:nvSpPr>
        <p:spPr>
          <a:xfrm>
            <a:off x="7017173" y="956160"/>
            <a:ext cx="1266787" cy="47844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E2A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ctangle 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Rectangle 2"/>
          <p:cNvSpPr/>
          <p:nvPr/>
        </p:nvSpPr>
        <p:spPr>
          <a:xfrm>
            <a:off x="0" y="5093280"/>
            <a:ext cx="9143640" cy="54360"/>
          </a:xfrm>
          <a:prstGeom prst="rect">
            <a:avLst/>
          </a:prstGeom>
          <a:solidFill>
            <a:srgbClr val="E2A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3"/>
          <p:cNvSpPr/>
          <p:nvPr/>
        </p:nvSpPr>
        <p:spPr>
          <a:xfrm>
            <a:off x="548640" y="320040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32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향후 확장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79" name="그룹 15"/>
          <p:cNvGrpSpPr/>
          <p:nvPr/>
        </p:nvGrpSpPr>
        <p:grpSpPr>
          <a:xfrm>
            <a:off x="4763880" y="1431000"/>
            <a:ext cx="3474360" cy="2651400"/>
            <a:chOff x="4763880" y="1431000"/>
            <a:chExt cx="3474360" cy="2651400"/>
          </a:xfrm>
        </p:grpSpPr>
        <p:sp>
          <p:nvSpPr>
            <p:cNvPr id="380" name="Rounded Rectangle 5"/>
            <p:cNvSpPr/>
            <p:nvPr/>
          </p:nvSpPr>
          <p:spPr>
            <a:xfrm>
              <a:off x="4763880" y="1431000"/>
              <a:ext cx="3474360" cy="2651400"/>
            </a:xfrm>
            <a:prstGeom prst="roundRect">
              <a:avLst>
                <a:gd name="adj" fmla="val 16667"/>
              </a:avLst>
            </a:prstGeom>
            <a:solidFill>
              <a:srgbClr val="F8F7F1"/>
            </a:solidFill>
            <a:ln w="12700">
              <a:solidFill>
                <a:srgbClr val="F8F7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81" name="Oval 6"/>
            <p:cNvSpPr/>
            <p:nvPr/>
          </p:nvSpPr>
          <p:spPr>
            <a:xfrm>
              <a:off x="6176520" y="1775880"/>
              <a:ext cx="649800" cy="649800"/>
            </a:xfrm>
            <a:prstGeom prst="ellipse">
              <a:avLst/>
            </a:prstGeom>
            <a:solidFill>
              <a:srgbClr val="E2A0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382" name="Picture 7" descr="fa_road_ffffff.png"/>
            <p:cNvPicPr/>
            <p:nvPr/>
          </p:nvPicPr>
          <p:blipFill>
            <a:blip r:embed="rId3"/>
            <a:stretch/>
          </p:blipFill>
          <p:spPr>
            <a:xfrm>
              <a:off x="6306480" y="1905840"/>
              <a:ext cx="389520" cy="389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3" name="TextBox 8"/>
            <p:cNvSpPr/>
            <p:nvPr/>
          </p:nvSpPr>
          <p:spPr>
            <a:xfrm>
              <a:off x="5014080" y="2590920"/>
              <a:ext cx="297432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zh-CN" sz="1900" b="1" u="none" strike="noStrike">
                  <a:solidFill>
                    <a:srgbClr val="000000"/>
                  </a:solidFill>
                  <a:effectLst/>
                  <a:uFillTx/>
                  <a:latin typeface="Malgun Gothic"/>
                </a:rPr>
                <a:t>도로 공사 최적 시간 추천</a:t>
              </a:r>
              <a:endParaRPr lang="en-US" sz="1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TextBox 9"/>
            <p:cNvSpPr/>
            <p:nvPr/>
          </p:nvSpPr>
          <p:spPr>
            <a:xfrm>
              <a:off x="5128024" y="3157963"/>
              <a:ext cx="2860376" cy="58383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457200">
                <a:lnSpc>
                  <a:spcPct val="120000"/>
                </a:lnSpc>
              </a:pPr>
              <a:r>
                <a:rPr lang="zh-CN" sz="1400" b="0" u="none" strike="noStrike" dirty="0">
                  <a:solidFill>
                    <a:srgbClr val="000000"/>
                  </a:solidFill>
                  <a:effectLst/>
                  <a:uFillTx/>
                  <a:latin typeface="Malgun Gothic"/>
                </a:rPr>
                <a:t>교통량</a:t>
              </a:r>
              <a:r>
                <a:rPr lang="en-US" sz="1400" b="0" u="none" strike="noStrike" dirty="0">
                  <a:solidFill>
                    <a:srgbClr val="000000"/>
                  </a:solidFill>
                  <a:effectLst/>
                  <a:uFillTx/>
                  <a:latin typeface="Malgun Gothic"/>
                </a:rPr>
                <a:t>·</a:t>
              </a:r>
              <a:r>
                <a:rPr lang="zh-CN" sz="1400" b="0" u="none" strike="noStrike" dirty="0">
                  <a:solidFill>
                    <a:srgbClr val="000000"/>
                  </a:solidFill>
                  <a:effectLst/>
                  <a:uFillTx/>
                  <a:latin typeface="Malgun Gothic"/>
                </a:rPr>
                <a:t>혼잡도 데이터를 기반으로</a:t>
              </a:r>
              <a:endParaRPr lang="en-US" sz="14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457200">
                <a:lnSpc>
                  <a:spcPct val="120000"/>
                </a:lnSpc>
              </a:pPr>
              <a:r>
                <a:rPr lang="zh-CN" sz="1400" b="0" u="none" strike="noStrike" dirty="0">
                  <a:solidFill>
                    <a:srgbClr val="000000"/>
                  </a:solidFill>
                  <a:effectLst/>
                  <a:uFillTx/>
                  <a:latin typeface="Malgun Gothic"/>
                </a:rPr>
                <a:t>혼잡도가 낮은 공사 시간대 추천</a:t>
              </a:r>
              <a:endParaRPr lang="en-US" sz="14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5" name="그룹 16"/>
          <p:cNvGrpSpPr/>
          <p:nvPr/>
        </p:nvGrpSpPr>
        <p:grpSpPr>
          <a:xfrm>
            <a:off x="521280" y="1417680"/>
            <a:ext cx="3474360" cy="2651400"/>
            <a:chOff x="521280" y="1417680"/>
            <a:chExt cx="3474360" cy="2651400"/>
          </a:xfrm>
        </p:grpSpPr>
        <p:sp>
          <p:nvSpPr>
            <p:cNvPr id="386" name="Rounded Rectangle 10"/>
            <p:cNvSpPr/>
            <p:nvPr/>
          </p:nvSpPr>
          <p:spPr>
            <a:xfrm>
              <a:off x="521280" y="1417680"/>
              <a:ext cx="3474360" cy="2651400"/>
            </a:xfrm>
            <a:prstGeom prst="roundRect">
              <a:avLst>
                <a:gd name="adj" fmla="val 16667"/>
              </a:avLst>
            </a:prstGeom>
            <a:solidFill>
              <a:srgbClr val="F8F7F1"/>
            </a:solidFill>
            <a:ln w="12700">
              <a:solidFill>
                <a:srgbClr val="F8F7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87" name="Oval 11"/>
            <p:cNvSpPr/>
            <p:nvPr/>
          </p:nvSpPr>
          <p:spPr>
            <a:xfrm>
              <a:off x="1933560" y="1762920"/>
              <a:ext cx="649800" cy="649800"/>
            </a:xfrm>
            <a:prstGeom prst="ellipse">
              <a:avLst/>
            </a:prstGeom>
            <a:solidFill>
              <a:srgbClr val="E2A0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388" name="Picture 12" descr="fa_sitemap_ffffff.png"/>
            <p:cNvPicPr/>
            <p:nvPr/>
          </p:nvPicPr>
          <p:blipFill>
            <a:blip r:embed="rId4"/>
            <a:stretch/>
          </p:blipFill>
          <p:spPr>
            <a:xfrm>
              <a:off x="2063520" y="1892880"/>
              <a:ext cx="389520" cy="389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9" name="TextBox 13"/>
            <p:cNvSpPr/>
            <p:nvPr/>
          </p:nvSpPr>
          <p:spPr>
            <a:xfrm>
              <a:off x="771120" y="2577960"/>
              <a:ext cx="2974320" cy="45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457200">
                <a:lnSpc>
                  <a:spcPct val="100000"/>
                </a:lnSpc>
              </a:pPr>
              <a:r>
                <a:rPr lang="zh-CN" sz="1900" b="1" u="none" strike="noStrike">
                  <a:solidFill>
                    <a:srgbClr val="000000"/>
                  </a:solidFill>
                  <a:effectLst/>
                  <a:uFillTx/>
                  <a:latin typeface="Malgun Gothic"/>
                </a:rPr>
                <a:t>교통 관제 센터 연동</a:t>
              </a:r>
              <a:endParaRPr lang="en-US" sz="19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TextBox 14"/>
            <p:cNvSpPr/>
            <p:nvPr/>
          </p:nvSpPr>
          <p:spPr>
            <a:xfrm>
              <a:off x="976550" y="3157920"/>
              <a:ext cx="2563820" cy="84236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457200">
                <a:lnSpc>
                  <a:spcPct val="120000"/>
                </a:lnSpc>
              </a:pPr>
              <a:r>
                <a:rPr lang="zh-CN" sz="1400" b="0" u="none" strike="noStrike" dirty="0">
                  <a:solidFill>
                    <a:srgbClr val="000000"/>
                  </a:solidFill>
                  <a:effectLst/>
                  <a:uFillTx/>
                  <a:latin typeface="Malgun Gothic"/>
                </a:rPr>
                <a:t>차량 흐름</a:t>
              </a:r>
              <a:r>
                <a:rPr lang="en-US" sz="1400" b="0" u="none" strike="noStrike" dirty="0">
                  <a:solidFill>
                    <a:srgbClr val="000000"/>
                  </a:solidFill>
                  <a:effectLst/>
                  <a:uFillTx/>
                  <a:latin typeface="Malgun Gothic"/>
                </a:rPr>
                <a:t>·</a:t>
              </a:r>
              <a:r>
                <a:rPr lang="zh-CN" sz="1400" b="0" u="none" strike="noStrike" dirty="0">
                  <a:solidFill>
                    <a:srgbClr val="000000"/>
                  </a:solidFill>
                  <a:effectLst/>
                  <a:uFillTx/>
                  <a:latin typeface="Malgun Gothic"/>
                </a:rPr>
                <a:t>과속 위반 데이터를</a:t>
              </a:r>
              <a:endParaRPr lang="en-US" sz="14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457200">
                <a:lnSpc>
                  <a:spcPct val="120000"/>
                </a:lnSpc>
              </a:pPr>
              <a:r>
                <a:rPr lang="zh-CN" sz="1400" b="0" u="none" strike="noStrike" dirty="0">
                  <a:solidFill>
                    <a:srgbClr val="000000"/>
                  </a:solidFill>
                  <a:effectLst/>
                  <a:uFillTx/>
                  <a:latin typeface="Malgun Gothic"/>
                </a:rPr>
                <a:t>관제 시스템과 연동</a:t>
              </a:r>
              <a:endParaRPr lang="en-US" sz="14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457200">
                <a:lnSpc>
                  <a:spcPct val="120000"/>
                </a:lnSpc>
              </a:pPr>
              <a:r>
                <a:rPr lang="zh-CN" sz="1400" b="0" u="none" strike="noStrike" dirty="0">
                  <a:solidFill>
                    <a:srgbClr val="000000"/>
                  </a:solidFill>
                  <a:effectLst/>
                  <a:uFillTx/>
                  <a:latin typeface="Malgun Gothic"/>
                </a:rPr>
                <a:t>상습 위반 차량 관리 활용</a:t>
              </a:r>
              <a:endParaRPr lang="en-US" sz="14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0"/>
          <p:cNvSpPr/>
          <p:nvPr/>
        </p:nvSpPr>
        <p:spPr>
          <a:xfrm>
            <a:off x="2926080" y="822960"/>
            <a:ext cx="3291480" cy="3291480"/>
          </a:xfrm>
          <a:prstGeom prst="ellipse">
            <a:avLst/>
          </a:prstGeom>
          <a:solidFill>
            <a:srgbClr val="E6A817"/>
          </a:solidFill>
          <a:ln w="15240">
            <a:solidFill>
              <a:srgbClr val="E6A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 1"/>
          <p:cNvSpPr/>
          <p:nvPr/>
        </p:nvSpPr>
        <p:spPr>
          <a:xfrm>
            <a:off x="2926080" y="822960"/>
            <a:ext cx="3291480" cy="329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Malgun Gothic"/>
              </a:rPr>
              <a:t>Q &amp; A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Gold Line 4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Gold Line 5"/>
          <p:cNvSpPr/>
          <p:nvPr/>
        </p:nvSpPr>
        <p:spPr>
          <a:xfrm>
            <a:off x="0" y="5088600"/>
            <a:ext cx="9143640" cy="5436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회색조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2013 - 2022 테마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736</TotalTime>
  <Words>866</Words>
  <Application>Microsoft Office PowerPoint</Application>
  <PresentationFormat>화면 슬라이드 쇼(16:9)</PresentationFormat>
  <Paragraphs>187</Paragraphs>
  <Slides>17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Malgun Gothic</vt:lpstr>
      <vt:lpstr>Arial</vt:lpstr>
      <vt:lpstr>Calibri</vt:lpstr>
      <vt:lpstr>Calibri Light</vt:lpstr>
      <vt:lpstr>Symbol</vt:lpstr>
      <vt:lpstr>Times New Roman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ez</dc:creator>
  <cp:lastModifiedBy>보경 전</cp:lastModifiedBy>
  <cp:revision>11</cp:revision>
  <dcterms:modified xsi:type="dcterms:W3CDTF">2026-06-02T04:35:01Z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2026-05-25T16:04:10Z</dcterms:created>
  <dc:creator>PptxGenJS</dc:creator>
  <dc:description/>
  <dc:language>en-US</dc:language>
  <cp:lastModifiedBy>보경 전</cp:lastModifiedBy>
  <dcterms:modified xsi:type="dcterms:W3CDTF">2026-05-28T03:45:57Z</dcterms:modified>
  <cp:revision>32</cp:revision>
  <dc:subject>PptxGenJS Presentation</dc:subject>
  <dc:title>TAS - AI 차량 인식 및 속도 분석 시스템 (차콜 버전)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13</vt:r8>
  </property>
  <property fmtid="{D5CDD505-2E9C-101B-9397-08002B2CF9AE}" pid="3" name="PresentationFormat">
    <vt:lpwstr>화면 슬라이드 쇼(16:9)</vt:lpwstr>
  </property>
  <property fmtid="{D5CDD505-2E9C-101B-9397-08002B2CF9AE}" pid="4" name="Slides">
    <vt:r8>19</vt:r8>
  </property>
</Properties>
</file>